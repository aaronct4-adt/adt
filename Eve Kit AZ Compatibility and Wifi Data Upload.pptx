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5"/>
    <p:sldMasterId id="2147483659" r:id="rId6"/>
    <p:sldMasterId id="2147483668" r:id="rId7"/>
    <p:sldMasterId id="2147483672" r:id="rId8"/>
    <p:sldMasterId id="2147483677" r:id="rId9"/>
    <p:sldMasterId id="2147483681" r:id="rId10"/>
    <p:sldMasterId id="2147483684" r:id="rId11"/>
  </p:sldMasterIdLst>
  <p:notesMasterIdLst>
    <p:notesMasterId r:id="rId44"/>
  </p:notesMasterIdLst>
  <p:handoutMasterIdLst>
    <p:handoutMasterId r:id="rId45"/>
  </p:handoutMasterIdLst>
  <p:sldIdLst>
    <p:sldId id="2147474489" r:id="rId12"/>
    <p:sldId id="2147474565" r:id="rId13"/>
    <p:sldId id="2147474545" r:id="rId14"/>
    <p:sldId id="2147474481" r:id="rId15"/>
    <p:sldId id="2147474574" r:id="rId16"/>
    <p:sldId id="2147474575" r:id="rId17"/>
    <p:sldId id="2147474576" r:id="rId18"/>
    <p:sldId id="2147474577" r:id="rId19"/>
    <p:sldId id="2147474578" r:id="rId20"/>
    <p:sldId id="2147474582" r:id="rId21"/>
    <p:sldId id="2147474583" r:id="rId22"/>
    <p:sldId id="2147474579" r:id="rId23"/>
    <p:sldId id="2147474580" r:id="rId24"/>
    <p:sldId id="2147474584" r:id="rId25"/>
    <p:sldId id="2147474585" r:id="rId26"/>
    <p:sldId id="2147474581" r:id="rId27"/>
    <p:sldId id="2147474586" r:id="rId28"/>
    <p:sldId id="2147474587" r:id="rId29"/>
    <p:sldId id="2147474588" r:id="rId30"/>
    <p:sldId id="2147474589" r:id="rId31"/>
    <p:sldId id="2147474590" r:id="rId32"/>
    <p:sldId id="2147474591" r:id="rId33"/>
    <p:sldId id="2147474592" r:id="rId34"/>
    <p:sldId id="2147474593" r:id="rId35"/>
    <p:sldId id="528" r:id="rId36"/>
    <p:sldId id="2147474568" r:id="rId37"/>
    <p:sldId id="2147474567" r:id="rId38"/>
    <p:sldId id="2147474570" r:id="rId39"/>
    <p:sldId id="2147474543" r:id="rId40"/>
    <p:sldId id="2147474571" r:id="rId41"/>
    <p:sldId id="2147474573" r:id="rId42"/>
    <p:sldId id="2147474486" r:id="rId43"/>
  </p:sldIdLst>
  <p:sldSz cx="12192000" cy="6858000"/>
  <p:notesSz cx="10007600" cy="143637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166" userDrawn="1">
          <p15:clr>
            <a:srgbClr val="A4A3A4"/>
          </p15:clr>
        </p15:guide>
        <p15:guide id="7" orient="horz" pos="119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6" orient="horz" pos="4178" userDrawn="1">
          <p15:clr>
            <a:srgbClr val="A4A3A4"/>
          </p15:clr>
        </p15:guide>
        <p15:guide id="17" pos="7514" userDrawn="1">
          <p15:clr>
            <a:srgbClr val="A4A3A4"/>
          </p15:clr>
        </p15:guide>
        <p15:guide id="19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00FF"/>
    <a:srgbClr val="FFCCFF"/>
    <a:srgbClr val="E60012"/>
    <a:srgbClr val="CCCCFF"/>
    <a:srgbClr val="CCFFCC"/>
    <a:srgbClr val="D9D9D9"/>
    <a:srgbClr val="ADADAD"/>
    <a:srgbClr val="003F66"/>
    <a:srgbClr val="5795B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86855" autoAdjust="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pos="166"/>
        <p:guide orient="horz" pos="119"/>
        <p:guide orient="horz" pos="2160"/>
        <p:guide pos="3840"/>
        <p:guide orient="horz" pos="4178"/>
        <p:guide pos="7514"/>
        <p:guide orient="horz" pos="6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0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7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presProps" Target="presProps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68657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r">
              <a:defRPr sz="1800"/>
            </a:lvl1pPr>
          </a:lstStyle>
          <a:p>
            <a:fld id="{2EAA5521-74A0-4497-BD3C-B34596D79315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68657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r">
              <a:defRPr sz="1800"/>
            </a:lvl1pPr>
          </a:lstStyle>
          <a:p>
            <a:fld id="{DA3E434F-EFAF-4CC8-962E-737203C16E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3599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68657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5900" y="1077913"/>
            <a:ext cx="9575800" cy="5386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0760" y="6822758"/>
            <a:ext cx="8006080" cy="646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68657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7A636EC-557D-4F00-BFDF-6F57ED432879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818637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c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9"/>
          <p:cNvSpPr>
            <a:spLocks noChangeShapeType="1"/>
          </p:cNvSpPr>
          <p:nvPr userDrawn="1"/>
        </p:nvSpPr>
        <p:spPr bwMode="auto">
          <a:xfrm>
            <a:off x="407989" y="1614578"/>
            <a:ext cx="11376024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タイトル 1"/>
          <p:cNvSpPr txBox="1">
            <a:spLocks/>
          </p:cNvSpPr>
          <p:nvPr userDrawn="1"/>
        </p:nvSpPr>
        <p:spPr>
          <a:xfrm>
            <a:off x="263525" y="188914"/>
            <a:ext cx="41424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16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3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45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61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Nissan Pro Bold" panose="02000803050000020004" pitchFamily="50" charset="0"/>
              </a:rPr>
              <a:t>Today’s Expectation</a:t>
            </a: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011" y="6563989"/>
            <a:ext cx="925200" cy="19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8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Nissan Pro Bold" panose="02000803050000020004" pitchFamily="50" charset="0"/>
              </a:defRPr>
            </a:lvl1pPr>
          </a:lstStyle>
          <a:p>
            <a:pPr lvl="0"/>
            <a:r>
              <a:rPr kumimoji="1" lang="en-US" altLang="ja-JP" dirty="0"/>
              <a:t>Title, Nissan Pro Bold 32pt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Title, Nissan Pro Regular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 baseline="0">
                <a:latin typeface="Nissan Pro Regular" panose="02000503030000020003" pitchFamily="50" charset="0"/>
              </a:defRPr>
            </a:lvl1pPr>
            <a:lvl2pPr>
              <a:defRPr sz="1800" baseline="0"/>
            </a:lvl2pPr>
          </a:lstStyle>
          <a:p>
            <a:pPr lvl="0"/>
            <a:r>
              <a:rPr kumimoji="1" lang="en-US" altLang="ja-JP" dirty="0"/>
              <a:t>Body Text, Nissan Pro Regular 18pt</a:t>
            </a:r>
          </a:p>
          <a:p>
            <a:pPr lvl="0"/>
            <a:r>
              <a:rPr kumimoji="1" lang="en-US" altLang="ja-JP" dirty="0"/>
              <a:t>First bullet</a:t>
            </a:r>
          </a:p>
          <a:p>
            <a:pPr lvl="1"/>
            <a:r>
              <a:rPr kumimoji="1" lang="en-US" altLang="ja-JP" sz="1800" dirty="0"/>
              <a:t>Second bullet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9879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19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Template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89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Template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90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Nissan Pro Bold" panose="02000803050000020004" pitchFamily="50" charset="0"/>
              </a:defRPr>
            </a:lvl1pPr>
          </a:lstStyle>
          <a:p>
            <a:pPr lvl="0"/>
            <a:r>
              <a:rPr kumimoji="1" lang="en-US" altLang="ja-JP" dirty="0"/>
              <a:t>Title, Nissan Pro Bold 32pt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Title, Nissan Pro Regular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 baseline="0">
                <a:latin typeface="Nissan Pro Regular" panose="02000503030000020003" pitchFamily="50" charset="0"/>
              </a:defRPr>
            </a:lvl1pPr>
            <a:lvl2pPr>
              <a:defRPr sz="1800" baseline="0"/>
            </a:lvl2pPr>
          </a:lstStyle>
          <a:p>
            <a:pPr lvl="0"/>
            <a:r>
              <a:rPr kumimoji="1" lang="en-US" altLang="ja-JP" dirty="0"/>
              <a:t>Body Text, Nissan Pro Regular 18pt</a:t>
            </a:r>
          </a:p>
          <a:p>
            <a:pPr lvl="0"/>
            <a:r>
              <a:rPr kumimoji="1" lang="en-US" altLang="ja-JP" dirty="0"/>
              <a:t>First bullet</a:t>
            </a:r>
          </a:p>
          <a:p>
            <a:pPr lvl="1"/>
            <a:r>
              <a:rPr kumimoji="1" lang="en-US" altLang="ja-JP" sz="1800" dirty="0"/>
              <a:t>Second bullet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194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9">
          <p15:clr>
            <a:srgbClr val="FBAE40"/>
          </p15:clr>
        </p15:guide>
        <p15:guide id="5" orient="horz" pos="61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Template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97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Nissan Pro Bold" panose="02000803050000020004" pitchFamily="50" charset="0"/>
              </a:defRPr>
            </a:lvl1pPr>
          </a:lstStyle>
          <a:p>
            <a:pPr lvl="0"/>
            <a:r>
              <a:rPr kumimoji="1" lang="en-US" altLang="ja-JP" dirty="0"/>
              <a:t>Title, Nissan Pro Bold 32pt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Title, Nissan Pro Regular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 baseline="0">
                <a:latin typeface="Nissan Pro Regular" panose="02000503030000020003" pitchFamily="50" charset="0"/>
              </a:defRPr>
            </a:lvl1pPr>
            <a:lvl2pPr>
              <a:defRPr sz="1800" baseline="0"/>
            </a:lvl2pPr>
          </a:lstStyle>
          <a:p>
            <a:pPr lvl="0"/>
            <a:r>
              <a:rPr kumimoji="1" lang="en-US" altLang="ja-JP" dirty="0"/>
              <a:t>Body Text, Nissan Pro Regular 18pt</a:t>
            </a:r>
          </a:p>
          <a:p>
            <a:pPr lvl="0"/>
            <a:r>
              <a:rPr kumimoji="1" lang="en-US" altLang="ja-JP" dirty="0"/>
              <a:t>First bullet</a:t>
            </a:r>
          </a:p>
          <a:p>
            <a:pPr lvl="1"/>
            <a:r>
              <a:rPr kumimoji="1" lang="en-US" altLang="ja-JP" sz="1800" dirty="0"/>
              <a:t>Second bullet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258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9">
          <p15:clr>
            <a:srgbClr val="FBAE40"/>
          </p15:clr>
        </p15:guide>
        <p15:guide id="5" orient="horz" pos="61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42"/>
          <p:cNvSpPr>
            <a:spLocks noGrp="1"/>
          </p:cNvSpPr>
          <p:nvPr>
            <p:ph type="body" sz="quarter" idx="10" hasCustomPrompt="1"/>
          </p:nvPr>
        </p:nvSpPr>
        <p:spPr>
          <a:xfrm>
            <a:off x="334964" y="508861"/>
            <a:ext cx="11522074" cy="52048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3200">
                <a:latin typeface="Nissan Brand Light" panose="020B0304020204030204" pitchFamily="34" charset="0"/>
              </a:defRPr>
            </a:lvl1pPr>
          </a:lstStyle>
          <a:p>
            <a:pPr lvl="0"/>
            <a:r>
              <a:rPr kumimoji="1" lang="en-US" altLang="ja-JP" dirty="0"/>
              <a:t>Title, Nissan Brand Light 32pt</a:t>
            </a:r>
            <a:endParaRPr kumimoji="1" lang="ja-JP" altLang="en-US" dirty="0"/>
          </a:p>
        </p:txBody>
      </p:sp>
      <p:sp>
        <p:nvSpPr>
          <p:cNvPr id="9" name="テキスト プレースホルダー 49"/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1029342"/>
            <a:ext cx="11522074" cy="28068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Nissan Brand Light" panose="020B0304020204030204" pitchFamily="34" charset="0"/>
              </a:defRPr>
            </a:lvl1pPr>
          </a:lstStyle>
          <a:p>
            <a:pPr lvl="0"/>
            <a:r>
              <a:rPr kumimoji="1" lang="en-US" altLang="ja-JP" dirty="0"/>
              <a:t>Sub-title, Nissan Brand Light 16pt</a:t>
            </a:r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1487488" y="1628774"/>
            <a:ext cx="9217025" cy="4321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Nissan Brand Light" panose="020B0304020204030204" pitchFamily="34" charset="0"/>
              </a:defRPr>
            </a:lvl1pPr>
            <a:lvl5pPr>
              <a:defRPr/>
            </a:lvl5pPr>
          </a:lstStyle>
          <a:p>
            <a:pPr lvl="0"/>
            <a:r>
              <a:rPr kumimoji="1" lang="en-US" altLang="ja-JP" dirty="0"/>
              <a:t>Body Text, Nissan Brand Light 18pt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9198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Nissan Pro Bold" panose="02000803050000020004" pitchFamily="50" charset="0"/>
              </a:defRPr>
            </a:lvl1pPr>
          </a:lstStyle>
          <a:p>
            <a:pPr lvl="0"/>
            <a:r>
              <a:rPr kumimoji="1" lang="en-US" altLang="ja-JP" dirty="0"/>
              <a:t>Title, Nissan Pro Bold 32pt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Title, Nissan Pro Regular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800" baseline="0">
                <a:latin typeface="Nissan Pro Regular" panose="02000503030000020003" pitchFamily="50" charset="0"/>
              </a:defRPr>
            </a:lvl1pPr>
            <a:lvl2pPr>
              <a:defRPr sz="1800" baseline="0"/>
            </a:lvl2pPr>
          </a:lstStyle>
          <a:p>
            <a:pPr lvl="0"/>
            <a:r>
              <a:rPr kumimoji="1" lang="en-US" altLang="ja-JP" dirty="0"/>
              <a:t>Body Text, Nissan Pro Regular 18pt</a:t>
            </a:r>
          </a:p>
          <a:p>
            <a:pPr lvl="0"/>
            <a:r>
              <a:rPr kumimoji="1" lang="en-US" altLang="ja-JP" dirty="0"/>
              <a:t>First bullet</a:t>
            </a:r>
          </a:p>
          <a:p>
            <a:pPr lvl="1"/>
            <a:r>
              <a:rPr kumimoji="1" lang="en-US" altLang="ja-JP" sz="1800" dirty="0"/>
              <a:t>Second bullet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26606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9">
          <p15:clr>
            <a:srgbClr val="FBAE40"/>
          </p15:clr>
        </p15:guide>
        <p15:guide id="5" orient="horz" pos="61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a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584775"/>
            <a:ext cx="10143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aseline="0" dirty="0">
                <a:latin typeface="+mj-lt"/>
              </a:rPr>
              <a:t>Description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aseline="0" dirty="0">
                <a:latin typeface="+mj-lt"/>
              </a:rPr>
              <a:t>Line two of description </a:t>
            </a:r>
            <a:endParaRPr lang="en-US" sz="2400" dirty="0">
              <a:latin typeface="+mj-lt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0"/>
            <a:ext cx="10143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Nissan Pro Bold" panose="02000803050000020004" pitchFamily="50" charset="0"/>
              </a:rPr>
              <a:t>One</a:t>
            </a:r>
            <a:r>
              <a:rPr lang="en-US" sz="3200" baseline="0" dirty="0">
                <a:latin typeface="Nissan Pro Bold" panose="02000803050000020004" pitchFamily="50" charset="0"/>
              </a:rPr>
              <a:t> Pager Title</a:t>
            </a:r>
            <a:endParaRPr lang="en-US" sz="3200" dirty="0">
              <a:latin typeface="Nissan Pro Bold" panose="02000803050000020004" pitchFamily="50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146304" y="1415772"/>
            <a:ext cx="11887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 userDrawn="1"/>
        </p:nvSpPr>
        <p:spPr>
          <a:xfrm>
            <a:off x="10070968" y="508798"/>
            <a:ext cx="2048759" cy="4430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 #</a:t>
            </a:r>
          </a:p>
        </p:txBody>
      </p:sp>
      <p:sp>
        <p:nvSpPr>
          <p:cNvPr id="9" name="Rounded Rectangle 8"/>
          <p:cNvSpPr/>
          <p:nvPr userDrawn="1"/>
        </p:nvSpPr>
        <p:spPr>
          <a:xfrm>
            <a:off x="10070967" y="27750"/>
            <a:ext cx="2048759" cy="4430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Status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9048" y="1415772"/>
            <a:ext cx="0" cy="5051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146304" y="1482744"/>
            <a:ext cx="5863971" cy="40011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Current Execution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169533" y="1482744"/>
            <a:ext cx="5863971" cy="40011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Recommended Execution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146304" y="1952625"/>
            <a:ext cx="5863971" cy="981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Detailed description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6169532" y="1949825"/>
            <a:ext cx="5863971" cy="98107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/>
              <a:t>Detailed description</a:t>
            </a:r>
          </a:p>
        </p:txBody>
      </p:sp>
    </p:spTree>
    <p:extLst>
      <p:ext uri="{BB962C8B-B14F-4D97-AF65-F5344CB8AC3E}">
        <p14:creationId xmlns:p14="http://schemas.microsoft.com/office/powerpoint/2010/main" val="230147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Template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57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94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5"/>
          <p:cNvSpPr txBox="1">
            <a:spLocks noChangeArrowheads="1"/>
          </p:cNvSpPr>
          <p:nvPr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011" y="6563989"/>
            <a:ext cx="925200" cy="19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6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16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32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5"/>
          <p:cNvSpPr txBox="1">
            <a:spLocks noChangeArrowheads="1"/>
          </p:cNvSpPr>
          <p:nvPr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図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787" y="6552273"/>
            <a:ext cx="925200" cy="19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514">
          <p15:clr>
            <a:srgbClr val="F26B43"/>
          </p15:clr>
        </p15:guide>
        <p15:guide id="4" pos="16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5"/>
          <p:cNvSpPr txBox="1">
            <a:spLocks noChangeArrowheads="1"/>
          </p:cNvSpPr>
          <p:nvPr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図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787" y="6552273"/>
            <a:ext cx="925200" cy="19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7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514">
          <p15:clr>
            <a:srgbClr val="F26B43"/>
          </p15:clr>
        </p15:guide>
        <p15:guide id="4" pos="166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5"/>
          <p:cNvSpPr txBox="1">
            <a:spLocks noChangeArrowheads="1"/>
          </p:cNvSpPr>
          <p:nvPr userDrawn="1"/>
        </p:nvSpPr>
        <p:spPr bwMode="gray">
          <a:xfrm>
            <a:off x="193158" y="6502421"/>
            <a:ext cx="695939" cy="30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fld id="{ED7C18E3-38A0-4A0E-99F3-971371BA3BC3}" type="slidenum">
              <a:rPr kumimoji="0" lang="en-US" altLang="ja-JP" sz="1400" smtClean="0">
                <a:solidFill>
                  <a:srgbClr val="000000"/>
                </a:solidFill>
                <a:latin typeface="Nissan Brand Light" panose="020B0304020204030204" pitchFamily="34" charset="0"/>
                <a:ea typeface="Arial Unicode MS" pitchFamily="50" charset="-128"/>
                <a:cs typeface="Arial Unicode MS" pitchFamily="50" charset="-128"/>
              </a:rPr>
              <a:t>‹#›</a:t>
            </a:fld>
            <a:endParaRPr kumimoji="0" lang="en-US" altLang="ja-JP" sz="1400" dirty="0">
              <a:solidFill>
                <a:srgbClr val="000000"/>
              </a:solidFill>
              <a:latin typeface="Nissan Brand Light" panose="020B0304020204030204" pitchFamily="34" charset="0"/>
              <a:ea typeface="Arial Unicode MS" pitchFamily="50" charset="-128"/>
              <a:cs typeface="Arial Unicode MS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4941" y="6271206"/>
            <a:ext cx="460530" cy="387432"/>
          </a:xfrm>
          <a:prstGeom prst="rect">
            <a:avLst/>
          </a:prstGeom>
        </p:spPr>
      </p:pic>
      <p:cxnSp>
        <p:nvCxnSpPr>
          <p:cNvPr id="9" name="直線コネクタ 8"/>
          <p:cNvCxnSpPr/>
          <p:nvPr userDrawn="1"/>
        </p:nvCxnSpPr>
        <p:spPr>
          <a:xfrm>
            <a:off x="6527799" y="6464922"/>
            <a:ext cx="532923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 userDrawn="1"/>
        </p:nvCxnSpPr>
        <p:spPr>
          <a:xfrm>
            <a:off x="334963" y="6464922"/>
            <a:ext cx="53276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24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60">
          <p15:clr>
            <a:srgbClr val="F26B43"/>
          </p15:clr>
        </p15:guide>
        <p15:guide id="4" pos="211">
          <p15:clr>
            <a:srgbClr val="F26B43"/>
          </p15:clr>
        </p15:guide>
        <p15:guide id="5" pos="7469">
          <p15:clr>
            <a:srgbClr val="F26B43"/>
          </p15:clr>
        </p15:guide>
        <p15:guide id="6" orient="horz" pos="210">
          <p15:clr>
            <a:srgbClr val="F26B43"/>
          </p15:clr>
        </p15:guide>
        <p15:guide id="7" orient="horz" pos="3748">
          <p15:clr>
            <a:srgbClr val="F26B43"/>
          </p15:clr>
        </p15:guide>
        <p15:guide id="8" pos="937">
          <p15:clr>
            <a:srgbClr val="F26B43"/>
          </p15:clr>
        </p15:guide>
        <p15:guide id="9" pos="6743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432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5"/>
          <p:cNvSpPr txBox="1">
            <a:spLocks noChangeArrowheads="1"/>
          </p:cNvSpPr>
          <p:nvPr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図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787" y="6552273"/>
            <a:ext cx="925200" cy="19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77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514">
          <p15:clr>
            <a:srgbClr val="F26B43"/>
          </p15:clr>
        </p15:guide>
        <p15:guide id="4" pos="1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05B94-0312-66F1-74D1-05989BB20C48}"/>
              </a:ext>
            </a:extLst>
          </p:cNvPr>
          <p:cNvSpPr txBox="1"/>
          <p:nvPr/>
        </p:nvSpPr>
        <p:spPr>
          <a:xfrm>
            <a:off x="453006" y="2025306"/>
            <a:ext cx="10721130" cy="21236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dirty="0"/>
              <a:t>Eve Kit AZ Compatibility and </a:t>
            </a:r>
            <a:r>
              <a:rPr lang="en-US" sz="6600" dirty="0" err="1"/>
              <a:t>Wifi</a:t>
            </a:r>
            <a:r>
              <a:rPr lang="en-US" sz="6600" dirty="0"/>
              <a:t> Data Upload</a:t>
            </a:r>
          </a:p>
        </p:txBody>
      </p:sp>
    </p:spTree>
    <p:extLst>
      <p:ext uri="{BB962C8B-B14F-4D97-AF65-F5344CB8AC3E}">
        <p14:creationId xmlns:p14="http://schemas.microsoft.com/office/powerpoint/2010/main" val="535603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12A1B-50E1-9217-B524-E6E2B3F9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BE6B-4CD8-740F-AEC7-9D0F7AF8897C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Bold" panose="02000803050000020004" pitchFamily="50" charset="0"/>
                <a:ea typeface="メイリオ"/>
                <a:cs typeface="+mj-cs"/>
              </a:rPr>
              <a:t>Eve Kit AZ Compatibility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E2E94-4AB0-9E97-52A3-DCFBB6E8924D}"/>
              </a:ext>
            </a:extLst>
          </p:cNvPr>
          <p:cNvSpPr/>
          <p:nvPr/>
        </p:nvSpPr>
        <p:spPr>
          <a:xfrm>
            <a:off x="305482" y="654896"/>
            <a:ext cx="110394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ＭＳ Ｐゴシック" charset="-128"/>
                <a:cs typeface="+mn-cs"/>
              </a:rPr>
              <a:t>Additional Hardware and Software Eve kit changes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7342EDD-E7B4-B07E-FA37-0DDAD92213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6F1FBE02-6447-F6A4-2499-D7DB0FCF78A5}"/>
              </a:ext>
            </a:extLst>
          </p:cNvPr>
          <p:cNvSpPr txBox="1">
            <a:spLocks/>
          </p:cNvSpPr>
          <p:nvPr/>
        </p:nvSpPr>
        <p:spPr>
          <a:xfrm>
            <a:off x="305482" y="1419652"/>
            <a:ext cx="11380240" cy="28154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Meiryo UI"/>
                <a:cs typeface="+mj-cs"/>
              </a:rPr>
              <a:t>Key </a:t>
            </a:r>
            <a:r>
              <a:rPr lang="en-US" altLang="ja-JP" sz="2000" b="0" dirty="0">
                <a:solidFill>
                  <a:srgbClr val="000000"/>
                </a:solidFill>
                <a:latin typeface="Nissan Pro Regular"/>
                <a:ea typeface="Meiryo UI"/>
              </a:rPr>
              <a:t>Updates for Compatibility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issan Pro Regular"/>
              <a:ea typeface="Meiryo UI"/>
              <a:cs typeface="+mj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メイリオ"/>
                <a:cs typeface="+mj-cs"/>
              </a:rPr>
              <a:t>Change Axis Quad IP Addresses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メイリオ"/>
                <a:cs typeface="+mj-cs"/>
              </a:rPr>
              <a:t>Run batch file to update Brick PC IP Addresses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Update Drive Letters and Rename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issan Pro Regular"/>
              <a:ea typeface="メイリオ"/>
              <a:cs typeface="+mj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Add CAN21 to Vector Hardware for </a:t>
            </a:r>
            <a:r>
              <a:rPr lang="en-US" sz="2000" b="0" dirty="0" err="1">
                <a:solidFill>
                  <a:srgbClr val="000000"/>
                </a:solidFill>
                <a:latin typeface="Nissan Pro Regular"/>
                <a:ea typeface="メイリオ"/>
              </a:rPr>
              <a:t>OxFord</a:t>
            </a: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Nissan Pro Regular"/>
                <a:ea typeface="メイリオ"/>
              </a:rPr>
              <a:t>pluggin</a:t>
            </a:r>
            <a:endParaRPr lang="en-US" sz="2000" b="0" dirty="0">
              <a:solidFill>
                <a:srgbClr val="000000"/>
              </a:solidFill>
              <a:latin typeface="Nissan Pro Regular"/>
              <a:ea typeface="メイリオ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メイリオ"/>
                <a:cs typeface="+mj-cs"/>
              </a:rPr>
              <a:t>Label C</a:t>
            </a: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AN18/CAN21 spot on Eve Kit\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Update Vector Drivers to latest (25_10_0)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Update to CANape 21 SP 6 (Final upgrade for CANape 21)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issan Pro Regular"/>
              <a:ea typeface="メイリオ"/>
              <a:cs typeface="+mj-cs"/>
            </a:endParaRP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78C53995-D547-D805-1157-45F6ED91433B}"/>
              </a:ext>
            </a:extLst>
          </p:cNvPr>
          <p:cNvSpPr txBox="1">
            <a:spLocks/>
          </p:cNvSpPr>
          <p:nvPr/>
        </p:nvSpPr>
        <p:spPr>
          <a:xfrm>
            <a:off x="305482" y="4470085"/>
            <a:ext cx="11464760" cy="1647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000" b="0" dirty="0">
                <a:solidFill>
                  <a:srgbClr val="000000"/>
                </a:solidFill>
                <a:latin typeface="Nissan Pro Regular"/>
                <a:ea typeface="Meiryo UI"/>
              </a:rPr>
              <a:t>Upgrades for </a:t>
            </a:r>
            <a:r>
              <a:rPr lang="en-US" altLang="ja-JP" sz="2000" b="0" dirty="0" err="1">
                <a:solidFill>
                  <a:srgbClr val="000000"/>
                </a:solidFill>
                <a:latin typeface="Nissan Pro Regular"/>
                <a:ea typeface="Meiryo UI"/>
              </a:rPr>
              <a:t>Wifi</a:t>
            </a:r>
            <a:r>
              <a:rPr lang="en-US" altLang="ja-JP" sz="2000" b="0" dirty="0">
                <a:solidFill>
                  <a:srgbClr val="000000"/>
                </a:solidFill>
                <a:latin typeface="Nissan Pro Regular"/>
                <a:ea typeface="Meiryo UI"/>
              </a:rPr>
              <a:t> Data Upload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issan Pro Regular"/>
              <a:ea typeface="Meiryo UI"/>
              <a:cs typeface="+mj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メイリオ"/>
                <a:cs typeface="+mj-cs"/>
              </a:rPr>
              <a:t>Remove main USB slot, plug in and mount </a:t>
            </a:r>
            <a:r>
              <a:rPr kumimoji="1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メイリオ"/>
                <a:cs typeface="+mj-cs"/>
              </a:rPr>
              <a:t>Wifi</a:t>
            </a: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ssan Pro Regular"/>
                <a:ea typeface="メイリオ"/>
                <a:cs typeface="+mj-cs"/>
              </a:rPr>
              <a:t> 6 Adapter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Update patch panel for one less USB (ensure no confusion or no empty ports)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issan Pro Regular"/>
              <a:ea typeface="メイリオ"/>
              <a:cs typeface="+mj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Setup Synology Drive Client for </a:t>
            </a:r>
            <a:r>
              <a:rPr lang="en-US" sz="2000" b="0" dirty="0" err="1">
                <a:solidFill>
                  <a:srgbClr val="000000"/>
                </a:solidFill>
                <a:latin typeface="Nissan Pro Regular"/>
                <a:ea typeface="メイリオ"/>
              </a:rPr>
              <a:t>wifi</a:t>
            </a:r>
            <a:r>
              <a:rPr lang="en-US" sz="2000" b="0" dirty="0">
                <a:solidFill>
                  <a:srgbClr val="000000"/>
                </a:solidFill>
                <a:latin typeface="Nissan Pro Regular"/>
                <a:ea typeface="メイリオ"/>
              </a:rPr>
              <a:t> data upload to NAS</a:t>
            </a:r>
            <a:endParaRPr kumimoji="1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issan Pro Regular"/>
              <a:ea typeface="メイリオ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10DA6-F162-F77D-A14C-87467C392F1D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</p:spTree>
    <p:extLst>
      <p:ext uri="{BB962C8B-B14F-4D97-AF65-F5344CB8AC3E}">
        <p14:creationId xmlns:p14="http://schemas.microsoft.com/office/powerpoint/2010/main" val="165867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Eve Kit Hardware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597915"/>
            <a:ext cx="11373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Individual hardware components contained in the Eve kit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649" y="1120844"/>
            <a:ext cx="4466088" cy="187743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Main Eve Kit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VP7470 – Brick PC with 32 Gb 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VN1670 – 10 CAN, 5 LIN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VN5650 – 6 Ethernet, 2 CAN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VN1530 – 6 CAN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Axis F44 (x3) – Up to 4 Axis Cameras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ITS1_FD necessary for online tuning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pic>
        <p:nvPicPr>
          <p:cNvPr id="9" name="Picture 8" descr="A computer equipment with wires&#10;&#10;Description automatically generated with medium confidence">
            <a:extLst>
              <a:ext uri="{FF2B5EF4-FFF2-40B4-BE49-F238E27FC236}">
                <a16:creationId xmlns:a16="http://schemas.microsoft.com/office/drawing/2014/main" id="{ACB7D3F8-4C9F-7389-269E-2D08185EAF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204" y="1350400"/>
            <a:ext cx="4572000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721CF4-A5A2-E77B-7260-1358A5A51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576" y="5242834"/>
            <a:ext cx="2535569" cy="16312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EE7F42-3A0C-D6B6-EE7A-3E48914F2AE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5026" y="5017028"/>
            <a:ext cx="3002943" cy="16984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D7E5F6-4C12-610B-3B11-7F7CCFEBE6C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2796" y="3516045"/>
            <a:ext cx="2607404" cy="13402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4CA586-CB56-8562-87AD-3DB67CA6AD2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322" y="5336775"/>
            <a:ext cx="1993590" cy="115098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77D73A-8683-F061-1F91-15363E5CFECF}"/>
              </a:ext>
            </a:extLst>
          </p:cNvPr>
          <p:cNvSpPr txBox="1"/>
          <p:nvPr/>
        </p:nvSpPr>
        <p:spPr>
          <a:xfrm>
            <a:off x="5870863" y="4858783"/>
            <a:ext cx="2476064" cy="40011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VP7470 – Brick PC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843892-0ECB-FCBA-990B-7C4FE1657095}"/>
              </a:ext>
            </a:extLst>
          </p:cNvPr>
          <p:cNvSpPr txBox="1"/>
          <p:nvPr/>
        </p:nvSpPr>
        <p:spPr>
          <a:xfrm>
            <a:off x="2282025" y="3235628"/>
            <a:ext cx="1689962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VN1670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1EC21F-9AE4-EBA0-23A7-21C4FE64539D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971987" y="2541001"/>
            <a:ext cx="2897940" cy="8946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EDB55B-1772-5A95-A134-EEADBC65DAB9}"/>
              </a:ext>
            </a:extLst>
          </p:cNvPr>
          <p:cNvCxnSpPr>
            <a:cxnSpLocks/>
          </p:cNvCxnSpPr>
          <p:nvPr/>
        </p:nvCxnSpPr>
        <p:spPr>
          <a:xfrm flipV="1">
            <a:off x="7889136" y="4186174"/>
            <a:ext cx="730078" cy="66681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18A0328-2493-347A-CACA-9026D3A80E20}"/>
              </a:ext>
            </a:extLst>
          </p:cNvPr>
          <p:cNvSpPr txBox="1"/>
          <p:nvPr/>
        </p:nvSpPr>
        <p:spPr>
          <a:xfrm>
            <a:off x="2464867" y="4936665"/>
            <a:ext cx="1689962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VN5650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22164E7-1958-457A-2D06-F9F92B721B1E}"/>
              </a:ext>
            </a:extLst>
          </p:cNvPr>
          <p:cNvCxnSpPr>
            <a:cxnSpLocks/>
          </p:cNvCxnSpPr>
          <p:nvPr/>
        </p:nvCxnSpPr>
        <p:spPr>
          <a:xfrm flipV="1">
            <a:off x="4154829" y="3171605"/>
            <a:ext cx="2737593" cy="19918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B48B2E1-1841-00DE-2864-B537BD525B8C}"/>
              </a:ext>
            </a:extLst>
          </p:cNvPr>
          <p:cNvSpPr txBox="1"/>
          <p:nvPr/>
        </p:nvSpPr>
        <p:spPr>
          <a:xfrm>
            <a:off x="8889034" y="4925672"/>
            <a:ext cx="2347854" cy="400110"/>
          </a:xfrm>
          <a:prstGeom prst="rect">
            <a:avLst/>
          </a:prstGeom>
          <a:noFill/>
          <a:ln w="28575">
            <a:solidFill>
              <a:srgbClr val="00AE4D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F44 Axis Encoder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AA3BD5-04B3-D209-3CBC-4491C6CC5E1D}"/>
              </a:ext>
            </a:extLst>
          </p:cNvPr>
          <p:cNvCxnSpPr>
            <a:cxnSpLocks/>
          </p:cNvCxnSpPr>
          <p:nvPr/>
        </p:nvCxnSpPr>
        <p:spPr>
          <a:xfrm flipV="1">
            <a:off x="9422296" y="3045350"/>
            <a:ext cx="0" cy="1880322"/>
          </a:xfrm>
          <a:prstGeom prst="straightConnector1">
            <a:avLst/>
          </a:prstGeom>
          <a:ln w="38100">
            <a:solidFill>
              <a:srgbClr val="00AE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53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computer&#10;&#10;Description automatically generated">
            <a:extLst>
              <a:ext uri="{FF2B5EF4-FFF2-40B4-BE49-F238E27FC236}">
                <a16:creationId xmlns:a16="http://schemas.microsoft.com/office/drawing/2014/main" id="{5C092ADD-AADF-982F-9F08-3AB981A322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220" y="3308814"/>
            <a:ext cx="3998472" cy="3345823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Eve Kit Hardware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Dedicated hardware CAN assignments for consistency and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setup across ADT FH/SAC/AZ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454" y="1423442"/>
            <a:ext cx="6533961" cy="187743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Hardware Setup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Plug in specific CAN device to dedicated port on Eve Kit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ITS1_FD -&gt; CAN1, ITS2_FD -&gt; CAN2, </a:t>
            </a:r>
            <a:r>
              <a:rPr lang="en-US" sz="1600" dirty="0" err="1"/>
              <a:t>etc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Beneficial to ensure correct database files, recorded signals, and baud rates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Same hardware and patch panel layout across all 23 Eve Systems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Exception, old axis cameras (no risk to new configurations)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DD926-E66B-F7CE-6E3A-00EDA311F97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13" name="Picture 12" descr="A table with text and numbers&#10;&#10;Description automatically generated">
            <a:extLst>
              <a:ext uri="{FF2B5EF4-FFF2-40B4-BE49-F238E27FC236}">
                <a16:creationId xmlns:a16="http://schemas.microsoft.com/office/drawing/2014/main" id="{C3C3D44F-9782-43A5-801E-6379A0EE2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463" y="1889361"/>
            <a:ext cx="4917894" cy="41425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4864835-0727-8AD2-9670-A8920608A9CE}"/>
              </a:ext>
            </a:extLst>
          </p:cNvPr>
          <p:cNvSpPr/>
          <p:nvPr/>
        </p:nvSpPr>
        <p:spPr>
          <a:xfrm>
            <a:off x="2981479" y="4278089"/>
            <a:ext cx="3368853" cy="3423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AFA65-B3F1-8603-BA00-989A9FABD49B}"/>
              </a:ext>
            </a:extLst>
          </p:cNvPr>
          <p:cNvSpPr txBox="1"/>
          <p:nvPr/>
        </p:nvSpPr>
        <p:spPr>
          <a:xfrm>
            <a:off x="305482" y="4469224"/>
            <a:ext cx="1842100" cy="33855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CAN 1 - 16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4A6927-415F-8B49-5441-1FE39820111A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2147582" y="4449277"/>
            <a:ext cx="833897" cy="18922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12F1838-4D74-CF21-1F9A-2E05A21698EA}"/>
              </a:ext>
            </a:extLst>
          </p:cNvPr>
          <p:cNvSpPr/>
          <p:nvPr/>
        </p:nvSpPr>
        <p:spPr>
          <a:xfrm>
            <a:off x="5519822" y="3895819"/>
            <a:ext cx="830510" cy="382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C36251-489D-E4F5-6F80-F95887426DD6}"/>
              </a:ext>
            </a:extLst>
          </p:cNvPr>
          <p:cNvSpPr txBox="1"/>
          <p:nvPr/>
        </p:nvSpPr>
        <p:spPr>
          <a:xfrm>
            <a:off x="305482" y="3553444"/>
            <a:ext cx="2244637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CAN 17 - 18, LIN 1 - 2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198F27-EF46-5C6A-BA2E-F8B9BE5048CF}"/>
              </a:ext>
            </a:extLst>
          </p:cNvPr>
          <p:cNvCxnSpPr>
            <a:cxnSpLocks/>
            <a:stCxn id="24" idx="3"/>
            <a:endCxn id="23" idx="1"/>
          </p:cNvCxnSpPr>
          <p:nvPr/>
        </p:nvCxnSpPr>
        <p:spPr>
          <a:xfrm>
            <a:off x="2550119" y="3722721"/>
            <a:ext cx="2969703" cy="3642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A9FEB0A-C257-E18A-EC07-492A1572017E}"/>
              </a:ext>
            </a:extLst>
          </p:cNvPr>
          <p:cNvSpPr/>
          <p:nvPr/>
        </p:nvSpPr>
        <p:spPr>
          <a:xfrm>
            <a:off x="3026944" y="3891998"/>
            <a:ext cx="1679280" cy="41456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293174-91EA-9610-56F1-3AC6875BB923}"/>
              </a:ext>
            </a:extLst>
          </p:cNvPr>
          <p:cNvSpPr txBox="1"/>
          <p:nvPr/>
        </p:nvSpPr>
        <p:spPr>
          <a:xfrm>
            <a:off x="305482" y="3990278"/>
            <a:ext cx="1842100" cy="33855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ETH 1 - 3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0714AB-188B-70FF-BAC8-FA3E48D7A94F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 flipV="1">
            <a:off x="2147582" y="4099282"/>
            <a:ext cx="879362" cy="6027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6DE9E4C-957D-5BB2-C245-3BBDF6512594}"/>
              </a:ext>
            </a:extLst>
          </p:cNvPr>
          <p:cNvSpPr/>
          <p:nvPr/>
        </p:nvSpPr>
        <p:spPr>
          <a:xfrm>
            <a:off x="3026944" y="4660359"/>
            <a:ext cx="2216175" cy="38227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F0F548-C0DD-E829-DEC5-1C86A7628FE3}"/>
              </a:ext>
            </a:extLst>
          </p:cNvPr>
          <p:cNvSpPr txBox="1"/>
          <p:nvPr/>
        </p:nvSpPr>
        <p:spPr>
          <a:xfrm>
            <a:off x="305482" y="4948170"/>
            <a:ext cx="1842100" cy="584775"/>
          </a:xfrm>
          <a:prstGeom prst="rect">
            <a:avLst/>
          </a:prstGeom>
          <a:noFill/>
          <a:ln w="28575">
            <a:solidFill>
              <a:srgbClr val="00AE4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Axis CAM5, CAM6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CFC756-D746-A9E8-7475-130AEE5C2FAD}"/>
              </a:ext>
            </a:extLst>
          </p:cNvPr>
          <p:cNvCxnSpPr>
            <a:cxnSpLocks/>
            <a:stCxn id="45" idx="3"/>
            <a:endCxn id="44" idx="1"/>
          </p:cNvCxnSpPr>
          <p:nvPr/>
        </p:nvCxnSpPr>
        <p:spPr>
          <a:xfrm flipV="1">
            <a:off x="2147582" y="4851494"/>
            <a:ext cx="879362" cy="389064"/>
          </a:xfrm>
          <a:prstGeom prst="straightConnector1">
            <a:avLst/>
          </a:prstGeom>
          <a:ln w="38100">
            <a:solidFill>
              <a:srgbClr val="00AE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17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1BE3-740C-8AC4-9BFE-1758CA44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FF0B-B0DA-331D-8261-64A4887C88AC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Change Axis Quad IP Addresses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5B10B-7F8F-1E58-66AE-6CF3566506E3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IP setup across ADT FH/SAC/AZ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A75E9B-14C0-73B1-A543-284A47D66E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5A6B5D-1C48-30F4-E1D2-B4869ADBB0FE}"/>
              </a:ext>
            </a:extLst>
          </p:cNvPr>
          <p:cNvSpPr txBox="1"/>
          <p:nvPr/>
        </p:nvSpPr>
        <p:spPr>
          <a:xfrm>
            <a:off x="160454" y="1423442"/>
            <a:ext cx="6271343" cy="163121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Axis Quad IP Address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Manually change each Axis Quad IP Address in Axis software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Axis Quad 1 -&gt; 195.0.100.1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Axis Quad 2 -&gt; 195.0.100.2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Axis Quad 3 -&gt; 195.0.100.3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Default Router = 195.0.100.10 (Same for all Axis)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84C35-6D08-69C6-D780-6C06F1E6207D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B9BC12-39B5-6602-D81A-D1A592E0E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416" y="1265172"/>
            <a:ext cx="5048955" cy="1543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E8F352-FA78-9691-B1D1-8A45E45F2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856" y="2903198"/>
            <a:ext cx="4108600" cy="36252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BF688A-E05D-D371-F2F5-277BC7B97595}"/>
              </a:ext>
            </a:extLst>
          </p:cNvPr>
          <p:cNvSpPr/>
          <p:nvPr/>
        </p:nvSpPr>
        <p:spPr>
          <a:xfrm>
            <a:off x="7944158" y="3983062"/>
            <a:ext cx="2549470" cy="604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244D9-911B-0D37-80F1-8FCD7B3B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423E-DC37-AA94-FB59-9FBE251891A5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Change Brick PC Port IP Settings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07D9C9-84E7-F852-0EAE-192AD85581AD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IP setup across ADT FH/SAC/AZ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C2C8EFC-098C-C2B3-FB14-F44A064BCA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007FE2-5B90-0095-66AF-23639DD53333}"/>
              </a:ext>
            </a:extLst>
          </p:cNvPr>
          <p:cNvSpPr txBox="1"/>
          <p:nvPr/>
        </p:nvSpPr>
        <p:spPr>
          <a:xfrm>
            <a:off x="160454" y="1423442"/>
            <a:ext cx="6271343" cy="3108543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Brick PC Port IP Settings for Axis Cams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Place batch file in Brick Settings Folder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This PC -&gt; Downloads -&gt; Brick Settings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BrickPC_ip_config_New_Axis.bat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Confirm Network names are matching image on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Right click batch file -&gt; Run As Administrator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Assignments are the following, also shown below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1G #1 -&gt; 195.0.100.11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1G #2 -&gt; 195.0.100.12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1G #3 -&gt; 195.0.100.13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1G #4 -&gt; Same as Previous (192.168.4.1)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10G #1 -&gt; Same As Previous (192.168.10.10)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348B5-8DEC-B3D5-BB5D-BF5FC9FF9B31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ACC60-E039-CD33-861C-682459B32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44" y="4880857"/>
            <a:ext cx="5048955" cy="1543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13F46-15FA-69CB-B2B4-F956DD4AEF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095" y="1318910"/>
            <a:ext cx="5789755" cy="19041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341160-6F34-F421-59B8-EDD452D1DC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095" y="3778623"/>
            <a:ext cx="5789755" cy="15239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CDF28A-6CF2-FEFD-DA77-D993E5643C4E}"/>
              </a:ext>
            </a:extLst>
          </p:cNvPr>
          <p:cNvSpPr txBox="1"/>
          <p:nvPr/>
        </p:nvSpPr>
        <p:spPr>
          <a:xfrm>
            <a:off x="7074976" y="909497"/>
            <a:ext cx="3852254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Batch File Placement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C978AE-CF3A-C356-162F-00D3700790B1}"/>
              </a:ext>
            </a:extLst>
          </p:cNvPr>
          <p:cNvSpPr txBox="1"/>
          <p:nvPr/>
        </p:nvSpPr>
        <p:spPr>
          <a:xfrm>
            <a:off x="7074976" y="3395601"/>
            <a:ext cx="3852254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Required Network Naming</a:t>
            </a:r>
          </a:p>
        </p:txBody>
      </p:sp>
    </p:spTree>
    <p:extLst>
      <p:ext uri="{BB962C8B-B14F-4D97-AF65-F5344CB8AC3E}">
        <p14:creationId xmlns:p14="http://schemas.microsoft.com/office/powerpoint/2010/main" val="40174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EA674-1D22-F36B-E781-051BDB13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DE67-E72A-DFD0-8642-04007222E9C9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Update Drive Letters and Rename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F3885-E804-A390-4AA9-4895202208FA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drive letter setup across ADT FH/SAC/AZ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46EE78D-FFE6-5950-A328-1B1C6AE3C0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08ACBE-AACB-4505-56F4-60F22D4E5A9F}"/>
              </a:ext>
            </a:extLst>
          </p:cNvPr>
          <p:cNvSpPr txBox="1"/>
          <p:nvPr/>
        </p:nvSpPr>
        <p:spPr>
          <a:xfrm>
            <a:off x="160454" y="1423442"/>
            <a:ext cx="5240705" cy="261610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 Drive Letters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Previous D Drive -&gt; Change to E Drive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Rename to “Setup”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This drive should have ~100Gb of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Previous E Drive -&gt; Change to D Drive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Rename to “Data”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Ensure this is the drive with 4+ TB of 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B5389-57E6-0A78-58A1-14B75D2FCEB4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A5FA1-2106-9B2B-B66F-D78034532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891" y="1184044"/>
            <a:ext cx="6062511" cy="425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5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C8FC7-0AFA-2D35-2840-4740C132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E960-C52B-A01B-012B-7CB5FC846538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Add to Vector Hardware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167095-8E6D-A111-AEB9-3B9A827E53E7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CAN21 for </a:t>
            </a:r>
            <a:r>
              <a:rPr lang="en-US" dirty="0" err="1"/>
              <a:t>OxFord</a:t>
            </a:r>
            <a:r>
              <a:rPr lang="en-US" dirty="0"/>
              <a:t> Setup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5E134F-4946-AE23-4F60-52C24F6E3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9D782C-C953-B245-4F40-44834DC96474}"/>
              </a:ext>
            </a:extLst>
          </p:cNvPr>
          <p:cNvSpPr txBox="1"/>
          <p:nvPr/>
        </p:nvSpPr>
        <p:spPr>
          <a:xfrm>
            <a:off x="160454" y="1423442"/>
            <a:ext cx="5240705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Open Vector Hardware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</a:t>
            </a:r>
            <a:r>
              <a:rPr lang="en-US" sz="1600" dirty="0" err="1"/>
              <a:t>CANape</a:t>
            </a:r>
            <a:r>
              <a:rPr lang="en-US" sz="1600" dirty="0"/>
              <a:t> -&gt; Application Channel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all are 0 except the following: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CAN = 22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LIN = 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GNSS =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1A6E3-93C4-0964-03C6-5F8B7D620055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346FA3-9C00-0271-5671-DCC6C6B38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708" y="854951"/>
            <a:ext cx="4299573" cy="2969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ADA18B-E393-09C8-A87E-39E23C633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316" y="2339624"/>
            <a:ext cx="4029637" cy="325800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D14D2CD-E68D-9C95-1461-A654A78639D9}"/>
              </a:ext>
            </a:extLst>
          </p:cNvPr>
          <p:cNvSpPr/>
          <p:nvPr/>
        </p:nvSpPr>
        <p:spPr>
          <a:xfrm>
            <a:off x="7501180" y="3203003"/>
            <a:ext cx="953144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72EBC0-496F-AE78-E8A6-529F6F693DBE}"/>
              </a:ext>
            </a:extLst>
          </p:cNvPr>
          <p:cNvSpPr/>
          <p:nvPr/>
        </p:nvSpPr>
        <p:spPr>
          <a:xfrm>
            <a:off x="8454324" y="3203002"/>
            <a:ext cx="953144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FD551D-D660-1478-C969-308A5941C555}"/>
              </a:ext>
            </a:extLst>
          </p:cNvPr>
          <p:cNvSpPr/>
          <p:nvPr/>
        </p:nvSpPr>
        <p:spPr>
          <a:xfrm>
            <a:off x="9353258" y="3824297"/>
            <a:ext cx="953144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17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78BC-FB32-735C-5263-FAC44AAC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E9B9-2463-E784-9F04-0B3F7EC1E76E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Add CAN21 to Vector Hardware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1B16E-FF48-2A4B-EFB6-71370604962B}"/>
              </a:ext>
            </a:extLst>
          </p:cNvPr>
          <p:cNvSpPr/>
          <p:nvPr/>
        </p:nvSpPr>
        <p:spPr>
          <a:xfrm>
            <a:off x="305482" y="654896"/>
            <a:ext cx="10205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 CAN18 and CAN21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CAN and LIN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9752234-1EBC-A07A-29DE-1C2D031733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F06357-7053-4CBA-A1E1-644440C88B5A}"/>
              </a:ext>
            </a:extLst>
          </p:cNvPr>
          <p:cNvSpPr txBox="1"/>
          <p:nvPr/>
        </p:nvSpPr>
        <p:spPr>
          <a:xfrm>
            <a:off x="160454" y="1423442"/>
            <a:ext cx="5240705" cy="2062103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CAN18 -&gt; choose VN5650 CH 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CAN19 -&gt; choose Virtual CAN Bus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CAN21 -&gt; choose VN5650 CH 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LIN Channels are accurate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GNSS -&gt; </a:t>
            </a:r>
            <a:r>
              <a:rPr lang="en-US" sz="1600" dirty="0" err="1"/>
              <a:t>vGNSS</a:t>
            </a:r>
            <a:r>
              <a:rPr lang="en-US" sz="1600" dirty="0"/>
              <a:t> Channel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Verify Vector Hardware looks exactly the same as image on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55619-BED6-87A5-1640-73762B85625E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38608F-852A-7EF5-48E4-920A69D4C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027" y="1048789"/>
            <a:ext cx="4891926" cy="48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0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60DC7-F779-213A-D3D3-B7408516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04FD-E943-CEE0-769D-76773EF0EF4E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Upgrade to latest drivers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B61CC-0BD5-2B17-C48C-A35384CDCC53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GPS as Vector Hardware Device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8B9B0C7-5391-832F-A45E-9156D4E7B3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298701-A874-5D54-EA53-0612B2DB8C92}"/>
              </a:ext>
            </a:extLst>
          </p:cNvPr>
          <p:cNvSpPr txBox="1"/>
          <p:nvPr/>
        </p:nvSpPr>
        <p:spPr>
          <a:xfrm>
            <a:off x="160454" y="1423442"/>
            <a:ext cx="5240705" cy="156966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CAN18 -&gt; choose VN5650 CH 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CAN19 -&gt; choose Virtual CAN Bus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CAN21 -&gt; choose VN5650 CH 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LIN2 is VN1670 CH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Do not update Vector Platform Manager?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4F978-FAAA-FD32-3BA0-4C74559D1CD0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030C7-1267-2ED1-0408-867F9E95B1E7}"/>
              </a:ext>
            </a:extLst>
          </p:cNvPr>
          <p:cNvSpPr txBox="1"/>
          <p:nvPr/>
        </p:nvSpPr>
        <p:spPr>
          <a:xfrm>
            <a:off x="7601919" y="1362782"/>
            <a:ext cx="3211280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1400" dirty="0"/>
              <a:t>Confirm latest drivers work</a:t>
            </a:r>
          </a:p>
          <a:p>
            <a:pPr marL="342900" indent="-342900">
              <a:buFontTx/>
              <a:buChar char="-"/>
            </a:pPr>
            <a:endParaRPr lang="en-US" sz="1400" dirty="0"/>
          </a:p>
          <a:p>
            <a:pPr marL="342900" indent="-342900">
              <a:buFontTx/>
              <a:buChar char="-"/>
            </a:pPr>
            <a:endParaRPr lang="en-US" sz="1400" dirty="0"/>
          </a:p>
          <a:p>
            <a:pPr marL="342900" indent="-342900"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9824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DB43-2738-BBDE-6C06-DE01B2D6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EAF4-3086-9152-3DF5-1256C57C3320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Upgrade to latest version of CANape 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0ECFD7-991D-6B1A-39D1-A32A9D50D01C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CANape 21 SP 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F47865C-6804-E1DA-DE2C-DEFC31246D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338D53-FF98-AE75-76D5-57B016372248}"/>
              </a:ext>
            </a:extLst>
          </p:cNvPr>
          <p:cNvSpPr txBox="1"/>
          <p:nvPr/>
        </p:nvSpPr>
        <p:spPr>
          <a:xfrm>
            <a:off x="160454" y="1423442"/>
            <a:ext cx="5240705" cy="156966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CAN18 -&gt; choose VN5650 CH 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CAN19 -&gt; choose Virtual CAN Bus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Right click CAN21 -&gt; choose VN5650 CH 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LIN2 is VN1670 CH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Do not update Vector Platform Manager?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11607-E9D1-BAED-88F8-9FEC8CC5999C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50CCE-15AF-C784-1564-E447C84B2C81}"/>
              </a:ext>
            </a:extLst>
          </p:cNvPr>
          <p:cNvSpPr txBox="1"/>
          <p:nvPr/>
        </p:nvSpPr>
        <p:spPr>
          <a:xfrm>
            <a:off x="7601919" y="1362782"/>
            <a:ext cx="3211280" cy="116955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1400" dirty="0"/>
              <a:t>Confirm latest CANape 21 version works</a:t>
            </a:r>
          </a:p>
          <a:p>
            <a:pPr marL="342900" indent="-342900">
              <a:buFontTx/>
              <a:buChar char="-"/>
            </a:pPr>
            <a:endParaRPr lang="en-US" sz="1400" dirty="0"/>
          </a:p>
          <a:p>
            <a:pPr marL="342900" indent="-342900">
              <a:buFontTx/>
              <a:buChar char="-"/>
            </a:pPr>
            <a:endParaRPr lang="en-US" sz="1400" dirty="0"/>
          </a:p>
          <a:p>
            <a:pPr marL="342900" indent="-342900"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6861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59FB-CD13-84CA-D2C8-8D8FCD731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7C87-C3FD-CF2A-A095-F14D016BFCC9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Adapter Addition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961C5B-383A-3B94-9552-17A4F593141F}"/>
              </a:ext>
            </a:extLst>
          </p:cNvPr>
          <p:cNvSpPr/>
          <p:nvPr/>
        </p:nvSpPr>
        <p:spPr>
          <a:xfrm>
            <a:off x="305482" y="654896"/>
            <a:ext cx="10205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Mount </a:t>
            </a:r>
            <a:r>
              <a:rPr lang="en-US" dirty="0" err="1"/>
              <a:t>Wifi</a:t>
            </a:r>
            <a:r>
              <a:rPr lang="en-US" dirty="0"/>
              <a:t> Adapter to Eve Kit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Plug into Brick PC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B63DC4D-3978-DCA8-2986-98FF09304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D8B895-EF9E-7788-4A7D-9386E4F11DB5}"/>
              </a:ext>
            </a:extLst>
          </p:cNvPr>
          <p:cNvSpPr txBox="1"/>
          <p:nvPr/>
        </p:nvSpPr>
        <p:spPr>
          <a:xfrm>
            <a:off x="160454" y="1423442"/>
            <a:ext cx="5240705" cy="132343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Mount </a:t>
            </a:r>
            <a:r>
              <a:rPr lang="en-US" sz="1600" dirty="0" err="1"/>
              <a:t>Wifi</a:t>
            </a:r>
            <a:r>
              <a:rPr lang="en-US" sz="1600" dirty="0"/>
              <a:t> Adapter to Eve Kit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Plug USB into Brick PC port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Remove patch panel slot for empty USB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Shift HDMI port left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D2CCB-57B5-68D2-0708-64E7596259CC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523FF-CACB-A539-2FC4-0F7A83B96FBA}"/>
              </a:ext>
            </a:extLst>
          </p:cNvPr>
          <p:cNvSpPr txBox="1"/>
          <p:nvPr/>
        </p:nvSpPr>
        <p:spPr>
          <a:xfrm>
            <a:off x="6307810" y="2394943"/>
            <a:ext cx="4294314" cy="2246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Need to put picture of official mounting location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642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2DF4-9C4D-E71D-C1A3-BDC277C29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4-20BE-FFE8-0555-CF8D8719D45B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30A0C-0250-AA3B-2DAE-0EFFB5D3FE2E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Activate </a:t>
            </a:r>
            <a:r>
              <a:rPr lang="en-US" dirty="0" err="1"/>
              <a:t>Wifi</a:t>
            </a:r>
            <a:r>
              <a:rPr lang="en-US" dirty="0"/>
              <a:t> on Brick PC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B222628-9170-C19D-782F-87BA681EB4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1211CE-1804-AE47-3B3E-426C0EDBBAE5}"/>
              </a:ext>
            </a:extLst>
          </p:cNvPr>
          <p:cNvSpPr txBox="1"/>
          <p:nvPr/>
        </p:nvSpPr>
        <p:spPr>
          <a:xfrm>
            <a:off x="160454" y="1423442"/>
            <a:ext cx="5240705" cy="2062103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Open file explorer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Choose CD drive </a:t>
            </a:r>
            <a:r>
              <a:rPr lang="en-US" sz="1600" dirty="0" err="1"/>
              <a:t>Wifi</a:t>
            </a:r>
            <a:r>
              <a:rPr lang="en-US" sz="1600" dirty="0"/>
              <a:t> 6 USB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Choose Driver Folder -&gt; Setup.exe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Installation will begin!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Wait to finish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Will close automatically when complete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0C50E-861F-C8AD-C68D-7E933954AF5C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A36C7-26B4-41DE-CE2B-806E342AB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836" y="651788"/>
            <a:ext cx="3668735" cy="32640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C6736B-1919-5030-0CC6-4AB24F794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523" y="2150569"/>
            <a:ext cx="3331173" cy="35304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9F2B3C-5505-09D7-7D6E-290B8E016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938" y="3847982"/>
            <a:ext cx="3895683" cy="232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77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1F073-9CCD-FB05-D044-E77218768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4EB6-70C0-56D2-A061-D039742467A8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445E27-8487-0268-D5DA-8C1324CDD61F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 to Orbi Router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E513503-AC0D-6B44-E83A-7C270EAA20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25A033-9E95-E560-0FDE-6DC6380724BD}"/>
              </a:ext>
            </a:extLst>
          </p:cNvPr>
          <p:cNvSpPr txBox="1"/>
          <p:nvPr/>
        </p:nvSpPr>
        <p:spPr>
          <a:xfrm>
            <a:off x="160454" y="1169827"/>
            <a:ext cx="6170604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After </a:t>
            </a:r>
            <a:r>
              <a:rPr lang="en-US" sz="1600" dirty="0" err="1"/>
              <a:t>Wifi</a:t>
            </a:r>
            <a:r>
              <a:rPr lang="en-US" sz="1600" dirty="0"/>
              <a:t> 6 installation is finished, window will close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Network connections will now have </a:t>
            </a:r>
            <a:r>
              <a:rPr lang="en-US" sz="1600" dirty="0" err="1"/>
              <a:t>wifi</a:t>
            </a:r>
            <a:r>
              <a:rPr lang="en-US" sz="1600" dirty="0"/>
              <a:t> option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Open </a:t>
            </a:r>
            <a:r>
              <a:rPr lang="en-US" sz="1600" dirty="0" err="1"/>
              <a:t>wifi</a:t>
            </a:r>
            <a:r>
              <a:rPr lang="en-US" sz="1600" dirty="0"/>
              <a:t> settings and find ORBI38 router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Choose connect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Password = windylake010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Ensure connected successfully! (No internet, secured)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4CDC9-C303-499E-C126-2CE97B19314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26845-A4F8-606F-F5AA-96EB73DA2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82" y="2874601"/>
            <a:ext cx="5283306" cy="2414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A74879-11D9-111E-4D21-F389FC4AD0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479" y="570887"/>
            <a:ext cx="3227019" cy="54400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29B9E3-EBF3-77DD-810E-E78B672405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415" y="4837717"/>
            <a:ext cx="2610214" cy="70494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1527E2-6820-3E7C-4A20-A6F3680F3AA4}"/>
              </a:ext>
            </a:extLst>
          </p:cNvPr>
          <p:cNvCxnSpPr>
            <a:cxnSpLocks/>
          </p:cNvCxnSpPr>
          <p:nvPr/>
        </p:nvCxnSpPr>
        <p:spPr>
          <a:xfrm>
            <a:off x="3928820" y="4378271"/>
            <a:ext cx="720672" cy="5734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303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C21B-7D67-535B-6EEC-484A1884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E4CA-5B5E-E500-6DA6-B057AADD7207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E881E-A98B-973F-0EAA-30A24CB1CB3E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Synology Drive Client Software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65E520E-C722-FC37-8460-E2E3D46A25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E32E92-6BA4-AC7E-1816-B863D0B86F79}"/>
              </a:ext>
            </a:extLst>
          </p:cNvPr>
          <p:cNvSpPr txBox="1"/>
          <p:nvPr/>
        </p:nvSpPr>
        <p:spPr>
          <a:xfrm>
            <a:off x="160454" y="1423442"/>
            <a:ext cx="5240705" cy="156966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Install Synology Client Software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Software provided by Andre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Click through setup -&gt; very simple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BBE4C-1CFA-FA76-7E8C-EE8AC6AEA702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AF8EE-3923-A500-590F-38F64299D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764" y="1489782"/>
            <a:ext cx="6399036" cy="200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98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65D85-0C5E-525C-265E-5C7BFABC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DBCD-7A45-E116-96C3-8461446969F3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FD40C-F13D-3F1F-9EAD-D9DB89A12BA7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Synology Drive Client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CB54A0-6C1B-B2B8-835D-A45D7C25E7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EE78E6-E692-E679-98A3-9A2304D49579}"/>
              </a:ext>
            </a:extLst>
          </p:cNvPr>
          <p:cNvSpPr txBox="1"/>
          <p:nvPr/>
        </p:nvSpPr>
        <p:spPr>
          <a:xfrm>
            <a:off x="160454" y="1423442"/>
            <a:ext cx="5240705" cy="280076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Open Synology Drive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Connect to NAS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Synology NAS = 195.0.100.101, click 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Choose </a:t>
            </a:r>
            <a:r>
              <a:rPr lang="en-US" sz="1600" dirty="0" err="1"/>
              <a:t>ADT_DataCenter</a:t>
            </a: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Username = </a:t>
            </a:r>
            <a:r>
              <a:rPr lang="en-US" sz="1600" dirty="0" err="1"/>
              <a:t>ADT_EveUploader</a:t>
            </a: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Password = PR0P!L0T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Keep checked “Enable SSL”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Click Next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Choose proceed anyway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9C14D-844A-013B-43B9-086968A851B8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2BA89D-2D07-5788-5F9D-3C77D500D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985" y="128317"/>
            <a:ext cx="4505173" cy="3615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8D5DC-DCA1-4EE2-5CD2-DA9075C68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546" y="3866689"/>
            <a:ext cx="2905717" cy="235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04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5332-057D-CB16-1AA5-8249021A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B0C4-DFD7-0D74-E48C-DF8ED78C192C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E251D-AD6A-F323-8FAC-FEB12E084B5C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Synology Drive Client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CE41208-6994-F682-0CB9-965164CAB5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9F0536-5B15-8EE2-05D5-ACBE7034A225}"/>
              </a:ext>
            </a:extLst>
          </p:cNvPr>
          <p:cNvSpPr txBox="1"/>
          <p:nvPr/>
        </p:nvSpPr>
        <p:spPr>
          <a:xfrm>
            <a:off x="160455" y="1423442"/>
            <a:ext cx="3328045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Choose sync task -&gt; click next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View original folder, edit paths on the next slide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Click change to edit folder to sync from NAS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06C6D-760C-8CCD-07DC-A321A90D6D3C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1B7B0-528C-4031-98E7-71A25467B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500" y="1181475"/>
            <a:ext cx="4242419" cy="3362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C9776A-5CA3-912C-36A9-E60E8EB65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445" y="3108268"/>
            <a:ext cx="4129617" cy="329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62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4A9F-15BD-BD58-1196-449EAD7F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C114-923E-CFFB-E410-05E0647D5B22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6BB84A-3C9D-80A8-2081-1ECDD0FE2642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Synology Drive Client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8D59683-F75E-AF47-3EE2-A49B253868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B451D-31B2-755E-F191-A33D4BF24055}"/>
              </a:ext>
            </a:extLst>
          </p:cNvPr>
          <p:cNvSpPr txBox="1"/>
          <p:nvPr/>
        </p:nvSpPr>
        <p:spPr>
          <a:xfrm>
            <a:off x="160456" y="1423442"/>
            <a:ext cx="4718826" cy="304698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Folder to sync from your NAS (195.0.100.101)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Expand team folder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</a:t>
            </a:r>
            <a:r>
              <a:rPr lang="en-US" sz="1600" dirty="0" err="1"/>
              <a:t>CANape_Data</a:t>
            </a: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Click 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Folder location on your computer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Expand D Drive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only </a:t>
            </a:r>
            <a:r>
              <a:rPr lang="en-US" sz="1600" dirty="0" err="1"/>
              <a:t>CANape_Data</a:t>
            </a: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Uncheck create an empty “</a:t>
            </a:r>
            <a:r>
              <a:rPr lang="en-US" sz="1600" dirty="0" err="1">
                <a:solidFill>
                  <a:srgbClr val="FF0000"/>
                </a:solidFill>
              </a:rPr>
              <a:t>SynologyDrive</a:t>
            </a:r>
            <a:r>
              <a:rPr lang="en-US" sz="1600" dirty="0">
                <a:solidFill>
                  <a:srgbClr val="FF0000"/>
                </a:solidFill>
              </a:rPr>
              <a:t>” folder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Click 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6F386-6973-D917-5A74-7C020F27D73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9B9EEB-4BDE-2F21-E5F9-E480799A6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538" y="1842792"/>
            <a:ext cx="3603811" cy="36181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86238C-F000-984A-81D6-38D33AA5CC5F}"/>
              </a:ext>
            </a:extLst>
          </p:cNvPr>
          <p:cNvSpPr txBox="1"/>
          <p:nvPr/>
        </p:nvSpPr>
        <p:spPr>
          <a:xfrm>
            <a:off x="5149084" y="1381530"/>
            <a:ext cx="257271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Folder from NAS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DD8616-2960-4B17-DD41-4CAAABD88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152" y="1842792"/>
            <a:ext cx="3524393" cy="36181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7FC9CF-D0A9-FB8C-5FD4-DCB1F7292A42}"/>
              </a:ext>
            </a:extLst>
          </p:cNvPr>
          <p:cNvSpPr txBox="1"/>
          <p:nvPr/>
        </p:nvSpPr>
        <p:spPr>
          <a:xfrm>
            <a:off x="8982989" y="1123121"/>
            <a:ext cx="2572718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Folder location on computer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304CF14-AE88-4B4F-55A0-7F04C1582015}"/>
              </a:ext>
            </a:extLst>
          </p:cNvPr>
          <p:cNvSpPr/>
          <p:nvPr/>
        </p:nvSpPr>
        <p:spPr>
          <a:xfrm>
            <a:off x="8507152" y="4634235"/>
            <a:ext cx="2178929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29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04318-0B80-D44A-3F4C-AA4B0CC3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A43B-A247-3D5F-403F-3822B8E563B6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1DC1CC-116F-4C62-7424-24A5B8275D83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Synology Drive Client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B8A007-2FF8-5966-3F27-1A4381BA1F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D54055-7C9A-48A1-F3F3-4EFC3EDA6152}"/>
              </a:ext>
            </a:extLst>
          </p:cNvPr>
          <p:cNvSpPr txBox="1"/>
          <p:nvPr/>
        </p:nvSpPr>
        <p:spPr>
          <a:xfrm>
            <a:off x="160455" y="1423442"/>
            <a:ext cx="4458040" cy="280076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Initial folder paths should look exactly like the image on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But wait not finished!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Click advanced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Under Folder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</a:t>
            </a:r>
            <a:r>
              <a:rPr lang="en-US" sz="1600" dirty="0" err="1"/>
              <a:t>CANape_Data</a:t>
            </a:r>
            <a:r>
              <a:rPr lang="en-US" sz="1600" dirty="0"/>
              <a:t> is selected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Every folder below should be auto selected, no need to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Change to sync mode tab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CA95C-DCB1-ABCE-70EB-39BCCC655094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C2F218-C475-5559-64C0-E25F38A1F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025" y="818443"/>
            <a:ext cx="4090565" cy="327245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CBE0D9C-A511-60FC-AB17-AC96682DAAF1}"/>
              </a:ext>
            </a:extLst>
          </p:cNvPr>
          <p:cNvSpPr/>
          <p:nvPr/>
        </p:nvSpPr>
        <p:spPr>
          <a:xfrm>
            <a:off x="4388821" y="3638902"/>
            <a:ext cx="1029472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B05426-229D-AA07-E722-D866F725F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763" y="2851446"/>
            <a:ext cx="3495261" cy="344652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316893BC-D57D-A9C2-5AC1-A5FD355EB14B}"/>
              </a:ext>
            </a:extLst>
          </p:cNvPr>
          <p:cNvSpPr/>
          <p:nvPr/>
        </p:nvSpPr>
        <p:spPr>
          <a:xfrm>
            <a:off x="7315416" y="3504583"/>
            <a:ext cx="1324377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40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4652-25D5-375D-2F98-02287633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B9B4-05D9-34E8-FAB9-AFDFF2283E9B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F11CAF-AFAC-F6EB-F42E-979E92B8D78E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Synology Drive Client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4828A5F-9123-85E2-897D-E69C10CF37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CBAE9-C0BD-06B8-8291-FFA1F86B8EDC}"/>
              </a:ext>
            </a:extLst>
          </p:cNvPr>
          <p:cNvSpPr txBox="1"/>
          <p:nvPr/>
        </p:nvSpPr>
        <p:spPr>
          <a:xfrm>
            <a:off x="160455" y="1423442"/>
            <a:ext cx="4458040" cy="255454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Sync mode tab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Check Upload data to Synology Drive Server 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Keep checked “locally deleted files”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Keep checked “enable advanced consistency check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settings match the image on the right -&gt; Click Apply!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83E7F-ECB0-2B5B-6AAA-5293F0AF36A5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0DDA1-3CC9-4B99-C9F7-FA49B1E86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441" y="1007745"/>
            <a:ext cx="4772691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09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9838-8AA6-2010-0C14-111D7B42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41B3-4B2C-902E-492D-70F1CF58897E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BD9B4-2710-33A7-2A89-9C7690171BFA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Synology Drive Client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E78C5EC-7EAD-18D6-BD30-AB7048FB75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216B79-8A72-1CCA-A217-61A5EC5D5560}"/>
              </a:ext>
            </a:extLst>
          </p:cNvPr>
          <p:cNvSpPr txBox="1"/>
          <p:nvPr/>
        </p:nvSpPr>
        <p:spPr>
          <a:xfrm>
            <a:off x="160455" y="1423442"/>
            <a:ext cx="4458040" cy="132343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file paths are still the same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Enable on demand sync checkbox will be removed automatically -&gt; this is 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Click done!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C42FF-E8CB-5F8A-BA0D-56BA93DC8618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BC7952-BE1A-F7A8-E228-7E9A381AE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813" y="1058114"/>
            <a:ext cx="5629166" cy="449308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80D413F-FE22-4B99-4767-089F24947A9F}"/>
              </a:ext>
            </a:extLst>
          </p:cNvPr>
          <p:cNvSpPr/>
          <p:nvPr/>
        </p:nvSpPr>
        <p:spPr>
          <a:xfrm>
            <a:off x="5203402" y="3569160"/>
            <a:ext cx="1029472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19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9058-4992-EBCF-A58C-A2B7A161F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3E41-6B71-80DD-99D5-3DB24512CB3D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36A78-AF58-88CC-8684-7F12440C0A39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Synology Drive Client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3E99DC5-FF26-D896-DE64-EB2B33C8D0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CE7EA0-09AA-B634-658C-E23506713107}"/>
              </a:ext>
            </a:extLst>
          </p:cNvPr>
          <p:cNvSpPr txBox="1"/>
          <p:nvPr/>
        </p:nvSpPr>
        <p:spPr>
          <a:xfrm>
            <a:off x="160455" y="1423442"/>
            <a:ext cx="4458040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Click through everything (Next x4)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the sync task matches the settings on the right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D:\CANape_Data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One-way upload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4BE02-8F43-C779-2227-C2926C761E2E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C2FAB-3A07-8433-0AA1-9229C40A4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73" y="3142452"/>
            <a:ext cx="3208586" cy="2355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E99C67-A924-53B2-48FA-790EBA89E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070" y="1575368"/>
            <a:ext cx="6361553" cy="4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9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F42A-536C-E69D-74BA-FFABDBE1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5E947-68B8-D9C4-783F-2361B4963444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80965-06E0-B785-7F6B-A369E836FD9C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 tasks when data starts to sync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48AC313-5823-88B8-F217-36AA659A6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EC993E-E50C-3680-2B41-BB36EDF0057B}"/>
              </a:ext>
            </a:extLst>
          </p:cNvPr>
          <p:cNvSpPr txBox="1"/>
          <p:nvPr/>
        </p:nvSpPr>
        <p:spPr>
          <a:xfrm>
            <a:off x="160455" y="1423442"/>
            <a:ext cx="4458040" cy="2062103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Go to taskbar settings (right click on taskbar -&gt; taskbar settings)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Scroll down -&gt; Select which icons appear on the taskbar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Find Synology Drive Client -&gt; Switch to 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FE513-B3A0-1985-BC73-713B4EBFC41B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53CC0A-4191-FE64-2FF6-AAB675F62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495" y="1500068"/>
            <a:ext cx="3781666" cy="39794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D5E584-A02F-3D61-ED28-0CD944576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465" y="1575368"/>
            <a:ext cx="3464643" cy="3681726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271C644-D368-0F48-85D1-DC2AE152F5C1}"/>
              </a:ext>
            </a:extLst>
          </p:cNvPr>
          <p:cNvSpPr/>
          <p:nvPr/>
        </p:nvSpPr>
        <p:spPr>
          <a:xfrm>
            <a:off x="5916323" y="3848130"/>
            <a:ext cx="1832829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895CC5-6111-4FFE-9732-F9629D413F4A}"/>
              </a:ext>
            </a:extLst>
          </p:cNvPr>
          <p:cNvSpPr/>
          <p:nvPr/>
        </p:nvSpPr>
        <p:spPr>
          <a:xfrm>
            <a:off x="8420724" y="4279498"/>
            <a:ext cx="1832829" cy="4519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34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90B6-A9FD-65A9-A631-920850B4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5DCF-71C2-1F67-DCC2-8A14800829F8}"/>
              </a:ext>
            </a:extLst>
          </p:cNvPr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Wifi</a:t>
            </a:r>
            <a:r>
              <a:rPr lang="en-US" sz="3200" dirty="0">
                <a:latin typeface="Nissan Pro Bold" panose="02000803050000020004" pitchFamily="50" charset="0"/>
              </a:rPr>
              <a:t> Data Upload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8799A-D4AF-18EB-157B-ADBFF06C2421}"/>
              </a:ext>
            </a:extLst>
          </p:cNvPr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 tasks when data starts to sync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79DE601-2E26-BD95-88A5-C4BB0AD1A9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4F982E-5665-A0FF-8298-8577D95B6EE6}"/>
              </a:ext>
            </a:extLst>
          </p:cNvPr>
          <p:cNvSpPr txBox="1"/>
          <p:nvPr/>
        </p:nvSpPr>
        <p:spPr>
          <a:xfrm>
            <a:off x="160455" y="1423442"/>
            <a:ext cx="4458040" cy="2062103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Go to D drive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Verify syncing status shows blue icon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Syncing in progress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Green checkmark will show when that folder sync is complete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CA1B3-1796-6D88-8195-8E7E0D00F3C5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EC992-CDB5-0056-7605-6C153D572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986" y="1423442"/>
            <a:ext cx="3610088" cy="3799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520D3B-5754-891C-5C5F-92F75853A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677" y="1375533"/>
            <a:ext cx="3122946" cy="3847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64C2C7-31A3-70F2-980F-1311DB646BFA}"/>
              </a:ext>
            </a:extLst>
          </p:cNvPr>
          <p:cNvSpPr txBox="1"/>
          <p:nvPr/>
        </p:nvSpPr>
        <p:spPr>
          <a:xfrm>
            <a:off x="5339712" y="1015215"/>
            <a:ext cx="257271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 in Progress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7FE8D5-8194-0DA8-40F5-19672133B06C}"/>
              </a:ext>
            </a:extLst>
          </p:cNvPr>
          <p:cNvSpPr txBox="1"/>
          <p:nvPr/>
        </p:nvSpPr>
        <p:spPr>
          <a:xfrm>
            <a:off x="8877156" y="1008997"/>
            <a:ext cx="257271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 Complete</a:t>
            </a:r>
          </a:p>
        </p:txBody>
      </p:sp>
    </p:spTree>
    <p:extLst>
      <p:ext uri="{BB962C8B-B14F-4D97-AF65-F5344CB8AC3E}">
        <p14:creationId xmlns:p14="http://schemas.microsoft.com/office/powerpoint/2010/main" val="325730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05B94-0312-66F1-74D1-05989BB20C48}"/>
              </a:ext>
            </a:extLst>
          </p:cNvPr>
          <p:cNvSpPr txBox="1"/>
          <p:nvPr/>
        </p:nvSpPr>
        <p:spPr>
          <a:xfrm>
            <a:off x="3735860" y="2533136"/>
            <a:ext cx="472028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56390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CANape</a:t>
            </a:r>
            <a:r>
              <a:rPr lang="en-US" sz="3200" dirty="0">
                <a:latin typeface="Nissan Pro Bold" panose="02000803050000020004" pitchFamily="50" charset="0"/>
              </a:rPr>
              <a:t> Configuration -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Setup page implemented from AZ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Dedicated CAN assignments from hardware to match </a:t>
            </a:r>
            <a:r>
              <a:rPr lang="en-US" dirty="0" err="1"/>
              <a:t>CANape</a:t>
            </a:r>
            <a:r>
              <a:rPr lang="en-US" dirty="0"/>
              <a:t>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5482" y="1474619"/>
            <a:ext cx="5790518" cy="440120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New Setup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Input Vehicle Project and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AD Mode -&gt; Supports data driven 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r>
              <a:rPr lang="en-US" dirty="0"/>
              <a:t>Hardware Match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Check CAN boxes based on connected 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Selectable dropdown options for Ethernet channels based on Radar, Camera, and HD map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Check Axis boxes based on external camera setup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commit to automatically enable/disable </a:t>
            </a:r>
            <a:r>
              <a:rPr lang="en-US" sz="1600" dirty="0" err="1"/>
              <a:t>CANape</a:t>
            </a:r>
            <a:r>
              <a:rPr lang="en-US" sz="1600" dirty="0"/>
              <a:t> networks in the Device Configuration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Status of background network displayed with colored LED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Axis camera views are live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That’s it!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DD926-E66B-F7CE-6E3A-00EDA311F97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B486B958-0241-F416-FB7D-91F6FD1C72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70559"/>
            <a:ext cx="5846980" cy="396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04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CANape</a:t>
            </a:r>
            <a:r>
              <a:rPr lang="en-US" sz="3200" dirty="0">
                <a:latin typeface="Nissan Pro Bold" panose="02000803050000020004" pitchFamily="50" charset="0"/>
              </a:rPr>
              <a:t> Configuration – Setup Online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Steps for Online Tuning Configuration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5482" y="1305342"/>
            <a:ext cx="4952893" cy="2123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Online Tuning Additional Setup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Navigate to Device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Expand </a:t>
            </a:r>
            <a:r>
              <a:rPr lang="en-US" sz="1600" dirty="0" err="1"/>
              <a:t>Online_Tuning</a:t>
            </a:r>
            <a:r>
              <a:rPr lang="en-US" sz="1600" dirty="0"/>
              <a:t> under CAN1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database -&gt; Replace A2L file to online tune new vehicle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Different A2L and PDX files for different vehicles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Check page switching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DD926-E66B-F7CE-6E3A-00EDA311F97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61145B1-50D7-921B-91F9-6EDF785E82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186" y="1048789"/>
            <a:ext cx="5130012" cy="1479856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78D1422-DE37-1701-80E3-60DE23D757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950" y="2922538"/>
            <a:ext cx="6015629" cy="318327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11B21A-9A59-C3B8-D606-E72B3F8FEBFF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258375" y="1672540"/>
            <a:ext cx="1119673" cy="6946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EC5F63-CC26-523C-2E6E-7A2B8188FC03}"/>
              </a:ext>
            </a:extLst>
          </p:cNvPr>
          <p:cNvSpPr txBox="1"/>
          <p:nvPr/>
        </p:nvSpPr>
        <p:spPr>
          <a:xfrm>
            <a:off x="305482" y="4046534"/>
            <a:ext cx="4952893" cy="13234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Return to LKA1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Ignition or engine 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Click online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Current LKA parameters will be retrieved from the ADAS module software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D2B68F-3774-3E80-A63A-6F760F989A48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258375" y="4708254"/>
            <a:ext cx="837625" cy="105561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20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CANape</a:t>
            </a:r>
            <a:r>
              <a:rPr lang="en-US" sz="3200" dirty="0">
                <a:latin typeface="Nissan Pro Bold" panose="02000803050000020004" pitchFamily="50" charset="0"/>
              </a:rPr>
              <a:t> Configuration – Confirmation Drive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vehicle for data confirmation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green heartbeats and confirm active GPS triggers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5A66A47-A5E7-9F8C-C4AC-BFBD0081C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90" y="5108122"/>
            <a:ext cx="2819321" cy="12219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453" y="1474619"/>
            <a:ext cx="6067389" cy="187743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Confirmation Drive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Start recording and drive test vehicle to M5 and back to office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Test of active GPS triggers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Test blue mode capable for AD2 vehicle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green heartbeats for successful signal recording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 online tuning is working by verifying parameter changes are successful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DD926-E66B-F7CE-6E3A-00EDA311F97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7" name="Picture 6" descr="A map of a city&#10;&#10;Description automatically generated">
            <a:extLst>
              <a:ext uri="{FF2B5EF4-FFF2-40B4-BE49-F238E27FC236}">
                <a16:creationId xmlns:a16="http://schemas.microsoft.com/office/drawing/2014/main" id="{79154A40-958E-EDFA-CA35-88EDCD847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519" y="1008839"/>
            <a:ext cx="4282417" cy="1572608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9677A305-0571-C69A-F504-1B46F1B131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922" y="2686886"/>
            <a:ext cx="3637610" cy="3866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0B65E3-6637-C81D-F4CD-8E5AAFCDD9B8}"/>
              </a:ext>
            </a:extLst>
          </p:cNvPr>
          <p:cNvSpPr txBox="1"/>
          <p:nvPr/>
        </p:nvSpPr>
        <p:spPr>
          <a:xfrm>
            <a:off x="160454" y="3519860"/>
            <a:ext cx="6895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External Comment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Executable built with C# to bypass </a:t>
            </a:r>
            <a:r>
              <a:rPr lang="en-US" sz="1600" dirty="0" err="1"/>
              <a:t>CANape</a:t>
            </a:r>
            <a:r>
              <a:rPr lang="en-US" sz="1600" dirty="0"/>
              <a:t> 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Allow for multiple comment boxes open at once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Ensures GPS triggers still successfully cut in the 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Turn comments on and off with convenient switch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606A05-DCEE-5B92-F7BB-53C87B37F217}"/>
              </a:ext>
            </a:extLst>
          </p:cNvPr>
          <p:cNvCxnSpPr>
            <a:cxnSpLocks/>
          </p:cNvCxnSpPr>
          <p:nvPr/>
        </p:nvCxnSpPr>
        <p:spPr>
          <a:xfrm>
            <a:off x="5629013" y="2686886"/>
            <a:ext cx="4236440" cy="2140448"/>
          </a:xfrm>
          <a:prstGeom prst="straightConnector1">
            <a:avLst/>
          </a:prstGeom>
          <a:ln w="38100">
            <a:solidFill>
              <a:srgbClr val="00AE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B336A4-7AAF-1FC4-4110-D6D944B46FE8}"/>
              </a:ext>
            </a:extLst>
          </p:cNvPr>
          <p:cNvCxnSpPr>
            <a:cxnSpLocks/>
          </p:cNvCxnSpPr>
          <p:nvPr/>
        </p:nvCxnSpPr>
        <p:spPr>
          <a:xfrm>
            <a:off x="5234731" y="3070371"/>
            <a:ext cx="3229761" cy="60337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A71E6B-D8CD-5BAA-6242-5CF591036E42}"/>
              </a:ext>
            </a:extLst>
          </p:cNvPr>
          <p:cNvCxnSpPr>
            <a:cxnSpLocks/>
          </p:cNvCxnSpPr>
          <p:nvPr/>
        </p:nvCxnSpPr>
        <p:spPr>
          <a:xfrm>
            <a:off x="8607104" y="3783040"/>
            <a:ext cx="1652631" cy="264253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E915453-9751-4216-5F7B-B0939CAE07BF}"/>
              </a:ext>
            </a:extLst>
          </p:cNvPr>
          <p:cNvCxnSpPr>
            <a:cxnSpLocks/>
          </p:cNvCxnSpPr>
          <p:nvPr/>
        </p:nvCxnSpPr>
        <p:spPr>
          <a:xfrm flipV="1">
            <a:off x="6227842" y="1812022"/>
            <a:ext cx="1146081" cy="1258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3EE6B2-F7E2-EAB2-C02C-52E7F013734E}"/>
              </a:ext>
            </a:extLst>
          </p:cNvPr>
          <p:cNvCxnSpPr>
            <a:cxnSpLocks/>
          </p:cNvCxnSpPr>
          <p:nvPr/>
        </p:nvCxnSpPr>
        <p:spPr>
          <a:xfrm>
            <a:off x="5093515" y="4747466"/>
            <a:ext cx="2934749" cy="32519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691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CECDBD3A-A25A-DFA3-7FB2-2B2DEBE7F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458" y="1519737"/>
            <a:ext cx="6801227" cy="2846070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CANape</a:t>
            </a:r>
            <a:r>
              <a:rPr lang="en-US" sz="3200" dirty="0">
                <a:latin typeface="Nissan Pro Bold" panose="02000803050000020004" pitchFamily="50" charset="0"/>
              </a:rPr>
              <a:t> Configuration – Automatic Data Cutting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Trigger 1 minute cutout files based on GPS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Trigger List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583" y="1743246"/>
            <a:ext cx="4508810" cy="187743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GPS Trigger Output to Trigger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Automatic cutting of data when driving through key scenes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Data comparing two runs at the same location can be overlaid and plotted easily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New trigger list structure for data review compatibility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94922" y="1107810"/>
            <a:ext cx="2255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Trigger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7713" y="5781162"/>
            <a:ext cx="3532152" cy="33855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Free comment for individual 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24470" y="1530872"/>
            <a:ext cx="755395" cy="2848033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550714" y="1578138"/>
            <a:ext cx="843246" cy="28007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7394922" y="5237375"/>
            <a:ext cx="2867341" cy="338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GPS Trigger Scene 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97FF7A-E5AF-4B70-9A9B-37DBB5480741}"/>
              </a:ext>
            </a:extLst>
          </p:cNvPr>
          <p:cNvSpPr/>
          <p:nvPr/>
        </p:nvSpPr>
        <p:spPr>
          <a:xfrm>
            <a:off x="6987782" y="1531468"/>
            <a:ext cx="1459931" cy="288445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472571" y="4618660"/>
            <a:ext cx="3491127" cy="338554"/>
          </a:xfrm>
          <a:prstGeom prst="rect">
            <a:avLst/>
          </a:prstGeom>
          <a:noFill/>
          <a:ln w="28575">
            <a:solidFill>
              <a:srgbClr val="00AE4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Trigger folder for individual run data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4FDC3B-C9B1-46D7-841C-D63FA7F01E62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7218135" y="4415927"/>
            <a:ext cx="499613" cy="202733"/>
          </a:xfrm>
          <a:prstGeom prst="straightConnector1">
            <a:avLst/>
          </a:prstGeom>
          <a:ln w="38100">
            <a:solidFill>
              <a:srgbClr val="00AE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4FDC3B-C9B1-46D7-841C-D63FA7F01E62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V="1">
            <a:off x="8828593" y="4378905"/>
            <a:ext cx="1143744" cy="8584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4FDC3B-C9B1-46D7-841C-D63FA7F01E62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10213789" y="4378905"/>
            <a:ext cx="1388379" cy="140225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81" y="3904883"/>
            <a:ext cx="4212117" cy="21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69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CANape</a:t>
            </a:r>
            <a:r>
              <a:rPr lang="en-US" sz="3200" dirty="0">
                <a:latin typeface="Nissan Pro Bold" panose="02000803050000020004" pitchFamily="50" charset="0"/>
              </a:rPr>
              <a:t> Configuration – Check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automatic data check report to confirm reliable data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453" y="1256506"/>
            <a:ext cx="6743685" cy="40934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Output Data Check Report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Return to office, stop recording, allow post processing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Matlab</a:t>
            </a:r>
            <a:r>
              <a:rPr lang="en-US" sz="1600" dirty="0"/>
              <a:t> conversion, automatic data transfer to SSD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Navigate to setup page, select Check Data box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Check remaining E Drive 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Script will automatically loop through each folder created from the various recorders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Recorders 1, 2, 3 and Full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Verify output file exists and is an appropriate file size (MF4, BLF, AVI, Trigger List CSV, KML)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Check for important signals in individual MF4 files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Yaw Rate, Steering Angle </a:t>
            </a:r>
            <a:r>
              <a:rPr lang="en-US" sz="1600" dirty="0" err="1"/>
              <a:t>etc</a:t>
            </a:r>
            <a:r>
              <a:rPr lang="en-US" sz="1600" dirty="0"/>
              <a:t> and ensure numerical output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Confirm AXIS Camera videos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Confirm external SSD is recognized and fast copy is 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See result column to determine success or fail of individual tests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DD926-E66B-F7CE-6E3A-00EDA311F97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11" name="Picture 1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01AC4FB-7C84-8A6C-CB90-C0373F84E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058" y="1170053"/>
            <a:ext cx="4506755" cy="4946836"/>
          </a:xfrm>
          <a:prstGeom prst="rect">
            <a:avLst/>
          </a:prstGeom>
        </p:spPr>
      </p:pic>
      <p:pic>
        <p:nvPicPr>
          <p:cNvPr id="15" name="Picture 14" descr="A close-up of a check data&#10;&#10;Description automatically generated">
            <a:extLst>
              <a:ext uri="{FF2B5EF4-FFF2-40B4-BE49-F238E27FC236}">
                <a16:creationId xmlns:a16="http://schemas.microsoft.com/office/drawing/2014/main" id="{27120B68-4142-2E5B-26B3-D203D317C1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5803" y="2076064"/>
            <a:ext cx="1317071" cy="481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7A8352-3BE8-15F7-3508-D157D5BC2A2A}"/>
              </a:ext>
            </a:extLst>
          </p:cNvPr>
          <p:cNvSpPr txBox="1"/>
          <p:nvPr/>
        </p:nvSpPr>
        <p:spPr>
          <a:xfrm>
            <a:off x="7306812" y="1477217"/>
            <a:ext cx="3456264" cy="2462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E4886-7936-978E-AA32-A002F1FF588A}"/>
              </a:ext>
            </a:extLst>
          </p:cNvPr>
          <p:cNvSpPr txBox="1"/>
          <p:nvPr/>
        </p:nvSpPr>
        <p:spPr>
          <a:xfrm>
            <a:off x="7306812" y="4238593"/>
            <a:ext cx="3456264" cy="2462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BC399-E3E7-4C98-940F-822093E2121C}"/>
              </a:ext>
            </a:extLst>
          </p:cNvPr>
          <p:cNvSpPr txBox="1"/>
          <p:nvPr/>
        </p:nvSpPr>
        <p:spPr>
          <a:xfrm>
            <a:off x="7383710" y="5870668"/>
            <a:ext cx="4050483" cy="2462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36589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 err="1">
                <a:latin typeface="Nissan Pro Bold" panose="02000803050000020004" pitchFamily="50" charset="0"/>
              </a:rPr>
              <a:t>CANape</a:t>
            </a:r>
            <a:r>
              <a:rPr lang="en-US" sz="3200" dirty="0">
                <a:latin typeface="Nissan Pro Bold" panose="02000803050000020004" pitchFamily="50" charset="0"/>
              </a:rPr>
              <a:t> Configuration Setup -  Additional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run MAT conversion to support data driven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monitoring during driving to ensure no data errors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5482" y="1444744"/>
            <a:ext cx="5648013" cy="390876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Full Run MAT Convert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Supports data driven tuning to make vehicle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Automatic </a:t>
            </a:r>
            <a:r>
              <a:rPr lang="en-US" sz="1600" dirty="0" err="1"/>
              <a:t>CANape</a:t>
            </a:r>
            <a:r>
              <a:rPr lang="en-US" sz="1600" dirty="0"/>
              <a:t> function to convert additional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Continue to add scripts and features that support users automatically for reliable data collection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Avoid manual processing and sorting</a:t>
            </a:r>
          </a:p>
          <a:p>
            <a:endParaRPr lang="en-US" sz="1600" dirty="0"/>
          </a:p>
          <a:p>
            <a:r>
              <a:rPr lang="en-US" dirty="0"/>
              <a:t>Continuous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Continuous checking of critical recording issues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Example E drive 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Pop up will show continuously until recording is stopped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Continue to add to this function to ensure no data loss during recording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DD926-E66B-F7CE-6E3A-00EDA311F979}"/>
              </a:ext>
            </a:extLst>
          </p:cNvPr>
          <p:cNvSpPr txBox="1"/>
          <p:nvPr/>
        </p:nvSpPr>
        <p:spPr>
          <a:xfrm>
            <a:off x="10163515" y="251678"/>
            <a:ext cx="1129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Andre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C9E57D2-0649-036B-108B-70A54BA55D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837" y="1559979"/>
            <a:ext cx="5927909" cy="30583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442467-C65F-3C13-1911-A5A6DCBABD93}"/>
              </a:ext>
            </a:extLst>
          </p:cNvPr>
          <p:cNvSpPr txBox="1"/>
          <p:nvPr/>
        </p:nvSpPr>
        <p:spPr>
          <a:xfrm>
            <a:off x="10175846" y="3398089"/>
            <a:ext cx="1065170" cy="3182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B3E2D9F-F08E-CD9E-29E7-C08144AF8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88" y="5061600"/>
            <a:ext cx="3817357" cy="1297305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9DB588DE-9F3F-A918-B2DC-6DF730027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992" y="5241937"/>
            <a:ext cx="3817357" cy="93663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6E296B-7A87-D2BF-9FC0-D3C995B50CEE}"/>
              </a:ext>
            </a:extLst>
          </p:cNvPr>
          <p:cNvCxnSpPr>
            <a:cxnSpLocks/>
          </p:cNvCxnSpPr>
          <p:nvPr/>
        </p:nvCxnSpPr>
        <p:spPr>
          <a:xfrm>
            <a:off x="5444455" y="4211273"/>
            <a:ext cx="1065402" cy="10306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BE145D-037A-285C-2DA4-3EFD9B23C654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4651345" y="5710252"/>
            <a:ext cx="1504647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903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0454" y="128317"/>
            <a:ext cx="12144840" cy="526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200" dirty="0">
                <a:latin typeface="Nissan Pro Bold" panose="02000803050000020004" pitchFamily="50" charset="0"/>
              </a:rPr>
              <a:t>Data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82" y="654896"/>
            <a:ext cx="10205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Center Folder Structure Layout on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CANape</a:t>
            </a:r>
            <a:r>
              <a:rPr lang="en-US" dirty="0"/>
              <a:t> Data Organization Overview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29" y="0"/>
            <a:ext cx="1048789" cy="10487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7C5454-3C78-7EF4-AAC3-900F09B5FC69}"/>
              </a:ext>
            </a:extLst>
          </p:cNvPr>
          <p:cNvSpPr txBox="1"/>
          <p:nvPr/>
        </p:nvSpPr>
        <p:spPr>
          <a:xfrm>
            <a:off x="160454" y="1628507"/>
            <a:ext cx="6248735" cy="236988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The Data Center (</a:t>
            </a:r>
            <a:r>
              <a:rPr lang="en-US" dirty="0" err="1"/>
              <a:t>CANape</a:t>
            </a:r>
            <a:r>
              <a:rPr lang="en-US" dirty="0"/>
              <a:t>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Automatic copy of </a:t>
            </a:r>
            <a:r>
              <a:rPr lang="en-US" sz="1600" dirty="0" err="1"/>
              <a:t>CANape</a:t>
            </a:r>
            <a:r>
              <a:rPr lang="en-US" sz="1600" dirty="0"/>
              <a:t> Data to SSD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Organization by Vehicle Project and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Individual Date Folders Created Daily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Trigger folders created for all GPS trigger locations or manual markings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Individual Trigger folders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PAR, BLF, MAT, MF4, AVI </a:t>
            </a:r>
          </a:p>
          <a:p>
            <a:endParaRPr lang="en-US" sz="1600" dirty="0"/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F1273814-53D4-988B-A31F-DD8DA4D82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21" y="2330763"/>
            <a:ext cx="3905564" cy="1873162"/>
          </a:xfrm>
          <a:prstGeom prst="rect">
            <a:avLst/>
          </a:prstGeom>
        </p:spPr>
      </p:pic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23ADC69A-41B9-FB2A-A32B-6A438C989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21" y="620845"/>
            <a:ext cx="3905564" cy="1249781"/>
          </a:xfrm>
          <a:prstGeom prst="rect">
            <a:avLst/>
          </a:prstGeom>
        </p:spPr>
      </p:pic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75EE12CE-21BC-6124-53FD-4D53ACAAAF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20" y="4655673"/>
            <a:ext cx="3905564" cy="1887689"/>
          </a:xfrm>
          <a:prstGeom prst="rect">
            <a:avLst/>
          </a:prstGeom>
        </p:spPr>
      </p:pic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02EEDD21-6F90-6D4C-952F-0690889DF1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32" y="4306353"/>
            <a:ext cx="5730199" cy="207037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3845A22-8697-0757-A0F1-295CD5D9A919}"/>
              </a:ext>
            </a:extLst>
          </p:cNvPr>
          <p:cNvSpPr txBox="1"/>
          <p:nvPr/>
        </p:nvSpPr>
        <p:spPr>
          <a:xfrm>
            <a:off x="7984917" y="245655"/>
            <a:ext cx="2345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The Data Center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72E575-4102-F009-94AB-C303BF1A96F9}"/>
              </a:ext>
            </a:extLst>
          </p:cNvPr>
          <p:cNvSpPr txBox="1"/>
          <p:nvPr/>
        </p:nvSpPr>
        <p:spPr>
          <a:xfrm>
            <a:off x="7479003" y="1965062"/>
            <a:ext cx="3356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CANape</a:t>
            </a:r>
            <a:r>
              <a:rPr lang="en-US" sz="1800" dirty="0"/>
              <a:t> Data Date Folder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A9ADA8-B03D-8D4A-1F7E-F7C5AA0E8221}"/>
              </a:ext>
            </a:extLst>
          </p:cNvPr>
          <p:cNvSpPr txBox="1"/>
          <p:nvPr/>
        </p:nvSpPr>
        <p:spPr>
          <a:xfrm>
            <a:off x="7569075" y="4287598"/>
            <a:ext cx="31768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Trigger Folders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4F91B1-E0D5-651E-5172-F35A26DB2FAA}"/>
              </a:ext>
            </a:extLst>
          </p:cNvPr>
          <p:cNvSpPr txBox="1"/>
          <p:nvPr/>
        </p:nvSpPr>
        <p:spPr>
          <a:xfrm>
            <a:off x="1847396" y="3918266"/>
            <a:ext cx="31768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Individual Trigger Folder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361968-412A-9860-6303-29C6BC7786B1}"/>
              </a:ext>
            </a:extLst>
          </p:cNvPr>
          <p:cNvCxnSpPr>
            <a:cxnSpLocks/>
          </p:cNvCxnSpPr>
          <p:nvPr/>
        </p:nvCxnSpPr>
        <p:spPr>
          <a:xfrm>
            <a:off x="8917497" y="3171039"/>
            <a:ext cx="0" cy="2130803"/>
          </a:xfrm>
          <a:prstGeom prst="straightConnector1">
            <a:avLst/>
          </a:prstGeom>
          <a:ln w="38100">
            <a:solidFill>
              <a:srgbClr val="00AE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A453FCA-6593-0EC6-A171-A324FA7A4007}"/>
              </a:ext>
            </a:extLst>
          </p:cNvPr>
          <p:cNvCxnSpPr>
            <a:cxnSpLocks/>
          </p:cNvCxnSpPr>
          <p:nvPr/>
        </p:nvCxnSpPr>
        <p:spPr>
          <a:xfrm flipH="1">
            <a:off x="5830349" y="5519956"/>
            <a:ext cx="2751589" cy="0"/>
          </a:xfrm>
          <a:prstGeom prst="straightConnector1">
            <a:avLst/>
          </a:prstGeom>
          <a:ln w="38100">
            <a:solidFill>
              <a:srgbClr val="00AE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895578"/>
      </p:ext>
    </p:extLst>
  </p:cSld>
  <p:clrMapOvr>
    <a:masterClrMapping/>
  </p:clrMapOvr>
</p:sld>
</file>

<file path=ppt/theme/theme1.xml><?xml version="1.0" encoding="utf-8"?>
<a:theme xmlns:a="http://schemas.openxmlformats.org/drawingml/2006/main" name="2. Expec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. Blank Slide with Patter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3. Blank Slide">
  <a:themeElements>
    <a:clrScheme name="Nissan Brand color">
      <a:dk1>
        <a:srgbClr val="000000"/>
      </a:dk1>
      <a:lt1>
        <a:srgbClr val="FFFFFF"/>
      </a:lt1>
      <a:dk2>
        <a:srgbClr val="C3002F"/>
      </a:dk2>
      <a:lt2>
        <a:srgbClr val="00A1E0"/>
      </a:lt2>
      <a:accent1>
        <a:srgbClr val="000000"/>
      </a:accent1>
      <a:accent2>
        <a:srgbClr val="FFFFFF"/>
      </a:accent2>
      <a:accent3>
        <a:srgbClr val="ACACAC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Nissan Brand font set">
      <a:majorFont>
        <a:latin typeface="Nissan Brand Light"/>
        <a:ea typeface="Meiryo UI"/>
        <a:cs typeface=""/>
      </a:majorFont>
      <a:minorFont>
        <a:latin typeface="Nissan Brand Light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389BC76-43B5-4A66-B5F4-ECE470397CA9}" vid="{3B93E2A3-31D5-49A8-BA6B-52293DB303FC}"/>
    </a:ext>
  </a:extLst>
</a:theme>
</file>

<file path=ppt/theme/theme7.xml><?xml version="1.0" encoding="utf-8"?>
<a:theme xmlns:a="http://schemas.openxmlformats.org/drawingml/2006/main" name="4_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C1F3CAAF666645929A856C410CA05D" ma:contentTypeVersion="19" ma:contentTypeDescription="Create a new document." ma:contentTypeScope="" ma:versionID="7bc316a27edcdec171d73ce18fd43643">
  <xsd:schema xmlns:xsd="http://www.w3.org/2001/XMLSchema" xmlns:xs="http://www.w3.org/2001/XMLSchema" xmlns:p="http://schemas.microsoft.com/office/2006/metadata/properties" xmlns:ns1="http://schemas.microsoft.com/sharepoint/v3" xmlns:ns2="435f6b24-e6c4-4559-b97a-550b4f561790" xmlns:ns3="0316b4ec-da2f-4691-982b-cc52e5908d4d" targetNamespace="http://schemas.microsoft.com/office/2006/metadata/properties" ma:root="true" ma:fieldsID="b1dd2efed60014b405d22510802b7f17" ns1:_="" ns2:_="" ns3:_="">
    <xsd:import namespace="http://schemas.microsoft.com/sharepoint/v3"/>
    <xsd:import namespace="435f6b24-e6c4-4559-b97a-550b4f561790"/>
    <xsd:import namespace="0316b4ec-da2f-4691-982b-cc52e5908d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PW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5f6b24-e6c4-4559-b97a-550b4f561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e993f94-6c0e-4a87-8957-b0e4ba0de1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PW" ma:index="25" nillable="true" ma:displayName="PW" ma:format="Dropdown" ma:internalName="PW">
      <xsd:simpleType>
        <xsd:restriction base="dms:Text">
          <xsd:maxLength value="255"/>
        </xsd:restriction>
      </xsd:simpleType>
    </xsd:element>
    <xsd:element name="Comment" ma:index="26" nillable="true" ma:displayName="Comment" ma:format="Dropdown" ma:internalName="Comm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16b4ec-da2f-4691-982b-cc52e5908d4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37f8ddc-1828-4060-9238-ca69dbf75286}" ma:internalName="TaxCatchAll" ma:showField="CatchAllData" ma:web="0316b4ec-da2f-4691-982b-cc52e5908d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5f6b24-e6c4-4559-b97a-550b4f561790">
      <Terms xmlns="http://schemas.microsoft.com/office/infopath/2007/PartnerControls"/>
    </lcf76f155ced4ddcb4097134ff3c332f>
    <TaxCatchAll xmlns="0316b4ec-da2f-4691-982b-cc52e5908d4d" xsi:nil="true"/>
    <_ip_UnifiedCompliancePolicyUIAction xmlns="http://schemas.microsoft.com/sharepoint/v3" xsi:nil="true"/>
    <_ip_UnifiedCompliancePolicyProperties xmlns="http://schemas.microsoft.com/sharepoint/v3" xsi:nil="true"/>
    <PW xmlns="435f6b24-e6c4-4559-b97a-550b4f561790" xsi:nil="true"/>
    <Comment xmlns="435f6b24-e6c4-4559-b97a-550b4f561790" xsi:nil="true"/>
  </documentManagement>
</p:properties>
</file>

<file path=customXml/itemProps1.xml><?xml version="1.0" encoding="utf-8"?>
<ds:datastoreItem xmlns:ds="http://schemas.openxmlformats.org/officeDocument/2006/customXml" ds:itemID="{E8136616-271E-4B68-B0DF-202D0FCEBD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35f6b24-e6c4-4559-b97a-550b4f561790"/>
    <ds:schemaRef ds:uri="0316b4ec-da2f-4691-982b-cc52e5908d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78CB5E-DCDF-4123-8B1F-4541C3EC9C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F7788A-C23C-465D-8064-A50C91A5D78E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CEDDF703-E9F5-456C-BB9E-9A3971734E17}">
  <ds:schemaRefs>
    <ds:schemaRef ds:uri="http://purl.org/dc/terms/"/>
    <ds:schemaRef ds:uri="435f6b24-e6c4-4559-b97a-550b4f561790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0316b4ec-da2f-4691-982b-cc52e5908d4d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20052</TotalTime>
  <Words>1940</Words>
  <Application>Microsoft Office PowerPoint</Application>
  <PresentationFormat>Widescreen</PresentationFormat>
  <Paragraphs>350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Arial</vt:lpstr>
      <vt:lpstr>Calibri</vt:lpstr>
      <vt:lpstr>Nissan Brand Light</vt:lpstr>
      <vt:lpstr>Nissan Pro Bold</vt:lpstr>
      <vt:lpstr>Nissan Pro Regular</vt:lpstr>
      <vt:lpstr>Wingdings</vt:lpstr>
      <vt:lpstr>2. Expectation</vt:lpstr>
      <vt:lpstr>3. Blank Slide</vt:lpstr>
      <vt:lpstr>4. Blank Slide with Pattern</vt:lpstr>
      <vt:lpstr>1_3. Blank Slide</vt:lpstr>
      <vt:lpstr>2_3. Blank Slide</vt:lpstr>
      <vt:lpstr>3_3. Blank Slide</vt:lpstr>
      <vt:lpstr>4_3. Blank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INFORMATION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Covault, Jannell</dc:creator>
  <cp:keywords/>
  <cp:lastModifiedBy>Tenorio, Aaron</cp:lastModifiedBy>
  <cp:revision>567</cp:revision>
  <cp:lastPrinted>2020-05-13T04:25:47Z</cp:lastPrinted>
  <dcterms:created xsi:type="dcterms:W3CDTF">2012-03-12T00:47:51Z</dcterms:created>
  <dcterms:modified xsi:type="dcterms:W3CDTF">2026-07-10T14:28:54Z</dcterms:modified>
  <cp:category>NONE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ExpireDate">
    <vt:lpwstr>2017-03-13T00:00:00Z</vt:lpwstr>
  </property>
  <property fmtid="{D5CDD505-2E9C-101B-9397-08002B2CF9AE}" pid="3" name="ItemRetentionFormula">
    <vt:lpwstr/>
  </property>
  <property fmtid="{D5CDD505-2E9C-101B-9397-08002B2CF9AE}" pid="4" name="_dlc_policyId">
    <vt:lpwstr>0x01010066E3D1BD537B466A9FB4715B858074E90086CBB1B2C534404481B05826C05EBC4F|473777199</vt:lpwstr>
  </property>
  <property fmtid="{D5CDD505-2E9C-101B-9397-08002B2CF9AE}" pid="5" name="ACP_Nissan_SecurityClassification">
    <vt:lpwstr>4;#CU/NC|e41da57d-3dff-4267-98d4-5ef0a8afe73e</vt:lpwstr>
  </property>
  <property fmtid="{D5CDD505-2E9C-101B-9397-08002B2CF9AE}" pid="6" name="ACP_Nissan_DocumentType">
    <vt:lpwstr/>
  </property>
  <property fmtid="{D5CDD505-2E9C-101B-9397-08002B2CF9AE}" pid="7" name="ACP_OwnerOrganization">
    <vt:lpwstr/>
  </property>
  <property fmtid="{D5CDD505-2E9C-101B-9397-08002B2CF9AE}" pid="8" name="ACP_Nissan_RelevantRegion">
    <vt:lpwstr/>
  </property>
  <property fmtid="{D5CDD505-2E9C-101B-9397-08002B2CF9AE}" pid="9" name="ContentTypeId">
    <vt:lpwstr>0x01010006C1F3CAAF666645929A856C410CA05D</vt:lpwstr>
  </property>
  <property fmtid="{D5CDD505-2E9C-101B-9397-08002B2CF9AE}" pid="10" name="_dlc_ItemStageId">
    <vt:lpwstr>1</vt:lpwstr>
  </property>
  <property fmtid="{D5CDD505-2E9C-101B-9397-08002B2CF9AE}" pid="11" name="_dlc_LastRun">
    <vt:lpwstr>03/19/2017 01:29:10</vt:lpwstr>
  </property>
  <property fmtid="{D5CDD505-2E9C-101B-9397-08002B2CF9AE}" pid="12" name="_AdHocReviewCycleID">
    <vt:i4>-1640688584</vt:i4>
  </property>
  <property fmtid="{D5CDD505-2E9C-101B-9397-08002B2CF9AE}" pid="13" name="_NewReviewCycle">
    <vt:lpwstr/>
  </property>
  <property fmtid="{D5CDD505-2E9C-101B-9397-08002B2CF9AE}" pid="14" name="_EmailSubject">
    <vt:lpwstr>[ACTION NEEDED] March PC-R&amp;D-A Material Due by EOD Monday, March 15th</vt:lpwstr>
  </property>
  <property fmtid="{D5CDD505-2E9C-101B-9397-08002B2CF9AE}" pid="15" name="_AuthorEmail">
    <vt:lpwstr>FranzN@NRD.NISSAN-USA.COM</vt:lpwstr>
  </property>
  <property fmtid="{D5CDD505-2E9C-101B-9397-08002B2CF9AE}" pid="16" name="_AuthorEmailDisplayName">
    <vt:lpwstr>Franz, Nicole L</vt:lpwstr>
  </property>
  <property fmtid="{D5CDD505-2E9C-101B-9397-08002B2CF9AE}" pid="17" name="_PreviousAdHocReviewCycleID">
    <vt:i4>-446906808</vt:i4>
  </property>
  <property fmtid="{D5CDD505-2E9C-101B-9397-08002B2CF9AE}" pid="18" name="MediaServiceImageTags">
    <vt:lpwstr/>
  </property>
</Properties>
</file>